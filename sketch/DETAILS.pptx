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4630400" cy="8229600"/>
  <p:notesSz cx="8229600" cy="14630400"/>
  <p:embeddedFontLst>
    <p:embeddedFont>
      <p:font typeface="Consolas" panose="020B0609020204030204" pitchFamily="49" charset="0"/>
      <p:regular r:id="rId13"/>
      <p:bold r:id="rId14"/>
      <p:italic r:id="rId15"/>
      <p:boldItalic r:id="rId16"/>
    </p:embeddedFont>
    <p:embeddedFont>
      <p:font typeface="Manrope" panose="020B0604020202020204" charset="0"/>
      <p:regular r:id="rId17"/>
    </p:embeddedFont>
    <p:embeddedFont>
      <p:font typeface="Prata" panose="020B0604020202020204" charset="0"/>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10"/>
  </p:normalViewPr>
  <p:slideViewPr>
    <p:cSldViewPr snapToGrid="0" snapToObjects="1">
      <p:cViewPr varScale="1">
        <p:scale>
          <a:sx n="65" d="100"/>
          <a:sy n="65" d="100"/>
        </p:scale>
        <p:origin x="830" y="53"/>
      </p:cViewPr>
      <p:guideLst/>
    </p:cSldViewPr>
  </p:slideViewPr>
  <p:notesTextViewPr>
    <p:cViewPr>
      <p:scale>
        <a:sx n="1" d="1"/>
        <a:sy n="1" d="1"/>
      </p:scale>
      <p:origin x="0" y="0"/>
    </p:cViewPr>
  </p:notesTextViewPr>
  <p:notesViewPr>
    <p:cSldViewPr snapToGrid="0" snapToObjects="1">
      <p:cViewPr varScale="1">
        <p:scale>
          <a:sx n="39" d="100"/>
          <a:sy n="39" d="100"/>
        </p:scale>
        <p:origin x="3566" y="8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193442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morning/afternoon everyone. Today I'm presenting my minor project — a Smart Home Automation and Energy Monitoring System. This project combines hardware components like the ESP32 microcontroller, DHT11 temperature sensor, and PIR motion sensor with a full cloud-based web dashboard to create an intelligent, automated home system."</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start with why this project matters. In most traditional homes, lights and fans keep running even when no one is in the room — which is a direct waste of electricity. There's also no easy way to know how much energy is being consumed in real time. Manual switching is inconvenient and people often forget. Our solution is a system that is smart enough to detect occupancy and temperature, and act on its own — without any human intervention.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exactly did we build? We built a complete IoT-based Smart Home system. The ESP32 microcontroller reads data from sensors and automatically controls a fan and a light. Simultaneously, all this data gets sent to a cloud server and also logged to Google Sheets. On top of that, we built a full web dashboard where users can monitor energy usage, get alerts, and even control devices remotely. It's an end-to-end solution — from hardware all the way to the web."</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walk you through the hardware. The brain of the system is the ESP32 — a powerful microcontroller with built-in </a:t>
            </a:r>
            <a:r>
              <a:rPr lang="en-US" dirty="0" err="1"/>
              <a:t>WiFi</a:t>
            </a:r>
            <a:r>
              <a:rPr lang="en-US" dirty="0"/>
              <a:t>, which allows it to send data to the internet directly. The DHT11 sensor reads temperature and humidity. The PIR sensor detects motion — basically whether someone is present in the room or not. We then have two relay modules — one controlling the fan on GPIO pin 13, and one controlling the light on GPIO pin 12. These relays act as smart switches that the ESP32 can turn on or off programmatically."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me explain how all these pieces connect together. The DHT11 and PIR sensors feed data into the ESP32. Every 5 seconds, the ESP32 packages this data as a JSON message and sends it via HTTP POST to two destinations — our local Node.js server and Google Sheets through a Google Apps Script URL. The Flask backend then serves this data through REST APIs to our React frontend dashboard. So the data flows from physical sensors all the way to a beautiful web interface in real time."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core intelligence of the system — the automation logic written in Arduino C++. The fan turns ON only when two conditions are met simultaneously — the temperature is 30 degrees Celsius or above, AND motion is detected in the room. If either condition fails, the fan turns off. The light is simpler — it turns ON whenever motion is detected and turns OFF when the room is empty. We also track energy consumption by calculating power multiplied by time elapsed, giving us energy in watt-hours. All of this runs in a continuous loop every 5 seconds."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software side, the backend is built using Flask in Python with an SQLite database. We implemented JWT-based authentication, which means users must log in with a token to access any data — making the system secure. There are different API endpoints — one for live sensor data with alerts, one for remotely toggling devices, one for analytics, and one for exporting data as a CSV file. The alert system classifies issues into critical alerts like power spikes and high temperature, and warning alerts for things like voltage fluctuations or device going offline."</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frontend is built using React with Vite for fast development, and Chart.js for visualizations. We have two different dashboards based on the user's role. The Operator sees live sensor readings, can toggle devices remotely, and views the activity log and alerts. The Manager gets access to advanced analytics — an energy timeline shown as a line chart, a weekly energy comparison bar chart, a system health score, and the ability to export all energy logs as a CSV. The design is fully responsive, so it works on mobile and tablets too."</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summarize what our system successfully achieves. First, the automation works — the fan and light respond correctly to occupancy and temperature in real time. Second, energy monitoring is live — we can see today's energy in kilowatt-hours, average power, and total runtime on the dashboard. Third, data is backed up to both our server and Google Sheets simultaneously. Fourth, the alert system notifies users of any anomalies like power spikes or high temperature. And finally, managers can export all historical data as a CSV for further analysis."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 this project demonstrates how IoT can solve a very real and everyday problem. We successfully integrated hardware sensors, embedded firmware, a REST API backend, and a web-based dashboard into one cohesive system. It's energy-efficient, automated, and remotely accessible. As for future scope — we plan to add voice assistant integration with Alexa or Google Home, build a dedicated mobile app, and explore using machine learning to predict and optimize energy usage patterns. We also want to support more smart devices and eventually integrate solar energy monitoring. </a:t>
            </a:r>
            <a:r>
              <a:rPr lang="en-US"/>
              <a:t>Thank you — I'm happy to take any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3171B"/>
          </a:solidFill>
          <a:ln/>
        </p:spPr>
        <p:txBody>
          <a:bodyPr/>
          <a:lstStyle/>
          <a:p>
            <a:endParaRPr lang="en-IN"/>
          </a:p>
        </p:txBody>
      </p:sp>
      <p:sp>
        <p:nvSpPr>
          <p:cNvPr id="3" name="Shape 1"/>
          <p:cNvSpPr/>
          <p:nvPr/>
        </p:nvSpPr>
        <p:spPr>
          <a:xfrm>
            <a:off x="0" y="0"/>
            <a:ext cx="14630400" cy="8229600"/>
          </a:xfrm>
          <a:prstGeom prst="rect">
            <a:avLst/>
          </a:prstGeom>
          <a:solidFill>
            <a:srgbClr val="212326"/>
          </a:solidFill>
          <a:ln/>
        </p:spPr>
        <p:txBody>
          <a:bodyPr/>
          <a:lstStyle/>
          <a:p>
            <a:endParaRPr lang="en-IN"/>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3171B"/>
          </a:solidFill>
          <a:ln/>
        </p:spPr>
      </p:sp>
      <p:sp>
        <p:nvSpPr>
          <p:cNvPr id="3" name="Shape 1"/>
          <p:cNvSpPr/>
          <p:nvPr/>
        </p:nvSpPr>
        <p:spPr>
          <a:xfrm>
            <a:off x="0" y="0"/>
            <a:ext cx="14630400" cy="8229600"/>
          </a:xfrm>
          <a:prstGeom prst="rect">
            <a:avLst/>
          </a:prstGeom>
          <a:solidFill>
            <a:srgbClr val="212326"/>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3171B"/>
          </a:solidFill>
          <a:ln/>
        </p:spPr>
      </p:sp>
      <p:sp>
        <p:nvSpPr>
          <p:cNvPr id="3" name="Shape 1"/>
          <p:cNvSpPr/>
          <p:nvPr/>
        </p:nvSpPr>
        <p:spPr>
          <a:xfrm>
            <a:off x="0" y="0"/>
            <a:ext cx="14630400" cy="8229600"/>
          </a:xfrm>
          <a:prstGeom prst="rect">
            <a:avLst/>
          </a:prstGeom>
          <a:solidFill>
            <a:srgbClr val="212326"/>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3171B"/>
          </a:solidFill>
          <a:ln/>
        </p:spPr>
      </p:sp>
      <p:sp>
        <p:nvSpPr>
          <p:cNvPr id="3" name="Shape 1"/>
          <p:cNvSpPr/>
          <p:nvPr/>
        </p:nvSpPr>
        <p:spPr>
          <a:xfrm>
            <a:off x="0" y="0"/>
            <a:ext cx="14630400" cy="8229600"/>
          </a:xfrm>
          <a:prstGeom prst="rect">
            <a:avLst/>
          </a:prstGeom>
          <a:solidFill>
            <a:srgbClr val="212326"/>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3171B"/>
          </a:solidFill>
          <a:ln/>
        </p:spPr>
      </p:sp>
      <p:sp>
        <p:nvSpPr>
          <p:cNvPr id="3" name="Shape 1"/>
          <p:cNvSpPr/>
          <p:nvPr/>
        </p:nvSpPr>
        <p:spPr>
          <a:xfrm>
            <a:off x="0" y="0"/>
            <a:ext cx="14630400" cy="8229600"/>
          </a:xfrm>
          <a:prstGeom prst="rect">
            <a:avLst/>
          </a:prstGeom>
          <a:solidFill>
            <a:srgbClr val="212326"/>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3171B"/>
          </a:solidFill>
          <a:ln/>
        </p:spPr>
      </p:sp>
      <p:sp>
        <p:nvSpPr>
          <p:cNvPr id="3" name="Shape 1"/>
          <p:cNvSpPr/>
          <p:nvPr/>
        </p:nvSpPr>
        <p:spPr>
          <a:xfrm>
            <a:off x="0" y="0"/>
            <a:ext cx="14630400" cy="8229600"/>
          </a:xfrm>
          <a:prstGeom prst="rect">
            <a:avLst/>
          </a:prstGeom>
          <a:solidFill>
            <a:srgbClr val="212326"/>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3171B"/>
          </a:solidFill>
          <a:ln/>
        </p:spPr>
      </p:sp>
      <p:sp>
        <p:nvSpPr>
          <p:cNvPr id="3" name="Shape 1"/>
          <p:cNvSpPr/>
          <p:nvPr/>
        </p:nvSpPr>
        <p:spPr>
          <a:xfrm>
            <a:off x="0" y="0"/>
            <a:ext cx="14630400" cy="8229600"/>
          </a:xfrm>
          <a:prstGeom prst="rect">
            <a:avLst/>
          </a:prstGeom>
          <a:solidFill>
            <a:srgbClr val="212326"/>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3171B"/>
          </a:solidFill>
          <a:ln/>
        </p:spPr>
      </p:sp>
      <p:sp>
        <p:nvSpPr>
          <p:cNvPr id="3" name="Shape 1"/>
          <p:cNvSpPr/>
          <p:nvPr/>
        </p:nvSpPr>
        <p:spPr>
          <a:xfrm>
            <a:off x="0" y="0"/>
            <a:ext cx="14630400" cy="8229600"/>
          </a:xfrm>
          <a:prstGeom prst="rect">
            <a:avLst/>
          </a:prstGeom>
          <a:solidFill>
            <a:srgbClr val="212326"/>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3171B"/>
          </a:solidFill>
          <a:ln/>
        </p:spPr>
      </p:sp>
      <p:sp>
        <p:nvSpPr>
          <p:cNvPr id="3" name="Shape 1"/>
          <p:cNvSpPr/>
          <p:nvPr/>
        </p:nvSpPr>
        <p:spPr>
          <a:xfrm>
            <a:off x="0" y="0"/>
            <a:ext cx="14630400" cy="8229600"/>
          </a:xfrm>
          <a:prstGeom prst="rect">
            <a:avLst/>
          </a:prstGeom>
          <a:solidFill>
            <a:srgbClr val="212326"/>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3171B"/>
          </a:solidFill>
          <a:ln/>
        </p:spPr>
      </p:sp>
      <p:sp>
        <p:nvSpPr>
          <p:cNvPr id="3" name="Shape 1"/>
          <p:cNvSpPr/>
          <p:nvPr/>
        </p:nvSpPr>
        <p:spPr>
          <a:xfrm>
            <a:off x="0" y="0"/>
            <a:ext cx="14630400" cy="8229600"/>
          </a:xfrm>
          <a:prstGeom prst="rect">
            <a:avLst/>
          </a:prstGeom>
          <a:solidFill>
            <a:srgbClr val="212326"/>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5.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9.xml"/><Relationship Id="rId6" Type="http://schemas.openxmlformats.org/officeDocument/2006/relationships/image" Target="../media/image2.png"/><Relationship Id="rId5" Type="http://schemas.openxmlformats.org/officeDocument/2006/relationships/image" Target="../media/image11.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8" Type="http://schemas.openxmlformats.org/officeDocument/2006/relationships/image" Target="../media/image17.svg"/><Relationship Id="rId3" Type="http://schemas.openxmlformats.org/officeDocument/2006/relationships/image" Target="../media/image12.svg"/><Relationship Id="rId7" Type="http://schemas.openxmlformats.org/officeDocument/2006/relationships/image" Target="../media/image16.svg"/><Relationship Id="rId2" Type="http://schemas.openxmlformats.org/officeDocument/2006/relationships/notesSlide" Target="../notesSlides/notesSlide9.xml"/><Relationship Id="rId1" Type="http://schemas.openxmlformats.org/officeDocument/2006/relationships/slideLayout" Target="../slideLayouts/slideLayout10.xml"/><Relationship Id="rId6" Type="http://schemas.openxmlformats.org/officeDocument/2006/relationships/image" Target="../media/image15.svg"/><Relationship Id="rId5" Type="http://schemas.openxmlformats.org/officeDocument/2006/relationships/image" Target="../media/image14.svg"/><Relationship Id="rId4" Type="http://schemas.openxmlformats.org/officeDocument/2006/relationships/image" Target="../media/image13.svg"/><Relationship Id="rId9"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Shape 0"/>
          <p:cNvSpPr/>
          <p:nvPr/>
        </p:nvSpPr>
        <p:spPr>
          <a:xfrm>
            <a:off x="6280190" y="2643307"/>
            <a:ext cx="1442918" cy="373142"/>
          </a:xfrm>
          <a:prstGeom prst="roundRect">
            <a:avLst>
              <a:gd name="adj" fmla="val 6383"/>
            </a:avLst>
          </a:prstGeom>
          <a:solidFill>
            <a:srgbClr val="391F13"/>
          </a:solidFill>
          <a:ln/>
        </p:spPr>
        <p:txBody>
          <a:bodyPr/>
          <a:lstStyle/>
          <a:p>
            <a:endParaRPr lang="en-IN"/>
          </a:p>
        </p:txBody>
      </p:sp>
      <p:sp>
        <p:nvSpPr>
          <p:cNvPr id="4" name="Text 1"/>
          <p:cNvSpPr/>
          <p:nvPr/>
        </p:nvSpPr>
        <p:spPr>
          <a:xfrm>
            <a:off x="6399252" y="2702838"/>
            <a:ext cx="1204793" cy="254079"/>
          </a:xfrm>
          <a:prstGeom prst="rect">
            <a:avLst/>
          </a:prstGeom>
          <a:noFill/>
          <a:ln/>
        </p:spPr>
        <p:txBody>
          <a:bodyPr wrap="none" lIns="0" tIns="0" rIns="0" bIns="0" rtlCol="0" anchor="t"/>
          <a:lstStyle/>
          <a:p>
            <a:pPr marL="0" indent="0" algn="l">
              <a:lnSpc>
                <a:spcPts val="2000"/>
              </a:lnSpc>
              <a:buNone/>
            </a:pPr>
            <a:r>
              <a:rPr lang="en-US" sz="1250" dirty="0">
                <a:solidFill>
                  <a:srgbClr val="BDA189"/>
                </a:solidFill>
                <a:latin typeface="Manrope" pitchFamily="34" charset="0"/>
                <a:ea typeface="Manrope" pitchFamily="34" charset="-122"/>
                <a:cs typeface="Manrope" pitchFamily="34" charset="-120"/>
              </a:rPr>
              <a:t>MINOR PROJECT</a:t>
            </a:r>
            <a:endParaRPr lang="en-US" sz="1250" dirty="0"/>
          </a:p>
        </p:txBody>
      </p:sp>
      <p:sp>
        <p:nvSpPr>
          <p:cNvPr id="5" name="Shape 2"/>
          <p:cNvSpPr/>
          <p:nvPr/>
        </p:nvSpPr>
        <p:spPr>
          <a:xfrm>
            <a:off x="7822287" y="2635687"/>
            <a:ext cx="2329696" cy="388382"/>
          </a:xfrm>
          <a:prstGeom prst="roundRect">
            <a:avLst>
              <a:gd name="adj" fmla="val 6132"/>
            </a:avLst>
          </a:prstGeom>
          <a:noFill/>
          <a:ln w="7620">
            <a:solidFill>
              <a:srgbClr val="84482D"/>
            </a:solidFill>
            <a:prstDash val="solid"/>
          </a:ln>
        </p:spPr>
        <p:txBody>
          <a:bodyPr/>
          <a:lstStyle/>
          <a:p>
            <a:endParaRPr lang="en-IN"/>
          </a:p>
        </p:txBody>
      </p:sp>
      <p:sp>
        <p:nvSpPr>
          <p:cNvPr id="6" name="Text 3"/>
          <p:cNvSpPr/>
          <p:nvPr/>
        </p:nvSpPr>
        <p:spPr>
          <a:xfrm>
            <a:off x="7948970" y="2702838"/>
            <a:ext cx="2076331" cy="254079"/>
          </a:xfrm>
          <a:prstGeom prst="rect">
            <a:avLst/>
          </a:prstGeom>
          <a:noFill/>
          <a:ln/>
        </p:spPr>
        <p:txBody>
          <a:bodyPr wrap="none" lIns="0" tIns="0" rIns="0" bIns="0" rtlCol="0" anchor="t"/>
          <a:lstStyle/>
          <a:p>
            <a:pPr marL="0" indent="0" algn="l">
              <a:lnSpc>
                <a:spcPts val="2000"/>
              </a:lnSpc>
              <a:buNone/>
            </a:pPr>
            <a:r>
              <a:rPr lang="en-US" sz="1250" dirty="0">
                <a:solidFill>
                  <a:srgbClr val="84482D"/>
                </a:solidFill>
                <a:latin typeface="Manrope" pitchFamily="34" charset="0"/>
                <a:ea typeface="Manrope" pitchFamily="34" charset="-122"/>
                <a:cs typeface="Manrope" pitchFamily="34" charset="-120"/>
              </a:rPr>
              <a:t>ESP32 + DHT11 + PIR SENSOR</a:t>
            </a:r>
            <a:endParaRPr lang="en-US" sz="1250" dirty="0"/>
          </a:p>
        </p:txBody>
      </p:sp>
      <p:sp>
        <p:nvSpPr>
          <p:cNvPr id="7" name="Shape 4"/>
          <p:cNvSpPr/>
          <p:nvPr/>
        </p:nvSpPr>
        <p:spPr>
          <a:xfrm>
            <a:off x="10251162" y="2635687"/>
            <a:ext cx="1351717" cy="388382"/>
          </a:xfrm>
          <a:prstGeom prst="roundRect">
            <a:avLst>
              <a:gd name="adj" fmla="val 6132"/>
            </a:avLst>
          </a:prstGeom>
          <a:noFill/>
          <a:ln w="7620">
            <a:solidFill>
              <a:srgbClr val="84482D"/>
            </a:solidFill>
            <a:prstDash val="solid"/>
          </a:ln>
        </p:spPr>
        <p:txBody>
          <a:bodyPr/>
          <a:lstStyle/>
          <a:p>
            <a:endParaRPr lang="en-IN"/>
          </a:p>
        </p:txBody>
      </p:sp>
      <p:sp>
        <p:nvSpPr>
          <p:cNvPr id="8" name="Text 5"/>
          <p:cNvSpPr/>
          <p:nvPr/>
        </p:nvSpPr>
        <p:spPr>
          <a:xfrm>
            <a:off x="10377845" y="2702838"/>
            <a:ext cx="1098352" cy="254079"/>
          </a:xfrm>
          <a:prstGeom prst="rect">
            <a:avLst/>
          </a:prstGeom>
          <a:noFill/>
          <a:ln/>
        </p:spPr>
        <p:txBody>
          <a:bodyPr wrap="none" lIns="0" tIns="0" rIns="0" bIns="0" rtlCol="0" anchor="t"/>
          <a:lstStyle/>
          <a:p>
            <a:pPr marL="0" indent="0" algn="l">
              <a:lnSpc>
                <a:spcPts val="2000"/>
              </a:lnSpc>
              <a:buNone/>
            </a:pPr>
            <a:r>
              <a:rPr lang="en-US" sz="1250" dirty="0">
                <a:solidFill>
                  <a:srgbClr val="84482D"/>
                </a:solidFill>
                <a:latin typeface="Manrope" pitchFamily="34" charset="0"/>
                <a:ea typeface="Manrope" pitchFamily="34" charset="-122"/>
                <a:cs typeface="Manrope" pitchFamily="34" charset="-120"/>
              </a:rPr>
              <a:t>FLASK + REACT</a:t>
            </a:r>
            <a:endParaRPr lang="en-US" sz="1250" dirty="0"/>
          </a:p>
        </p:txBody>
      </p:sp>
      <p:sp>
        <p:nvSpPr>
          <p:cNvPr id="9" name="Text 6"/>
          <p:cNvSpPr/>
          <p:nvPr/>
        </p:nvSpPr>
        <p:spPr>
          <a:xfrm>
            <a:off x="6280190" y="3103364"/>
            <a:ext cx="7556421" cy="1240155"/>
          </a:xfrm>
          <a:prstGeom prst="rect">
            <a:avLst/>
          </a:prstGeom>
          <a:noFill/>
          <a:ln/>
        </p:spPr>
        <p:txBody>
          <a:bodyPr wrap="square" lIns="0" tIns="0" rIns="0" bIns="0" rtlCol="0" anchor="t"/>
          <a:lstStyle/>
          <a:p>
            <a:pPr marL="0" indent="0" algn="l">
              <a:lnSpc>
                <a:spcPts val="4850"/>
              </a:lnSpc>
              <a:buNone/>
            </a:pPr>
            <a:r>
              <a:rPr lang="en-US" sz="3900" dirty="0">
                <a:solidFill>
                  <a:srgbClr val="F2D4BA"/>
                </a:solidFill>
                <a:latin typeface="Prata" pitchFamily="34" charset="0"/>
                <a:ea typeface="Prata" pitchFamily="34" charset="-122"/>
                <a:cs typeface="Prata" pitchFamily="34" charset="-120"/>
              </a:rPr>
              <a:t>Smart Home Automation &amp; Energy Monitoring System</a:t>
            </a:r>
            <a:endParaRPr lang="en-US" sz="3900" dirty="0"/>
          </a:p>
        </p:txBody>
      </p:sp>
      <p:sp>
        <p:nvSpPr>
          <p:cNvPr id="10" name="Text 7"/>
          <p:cNvSpPr/>
          <p:nvPr/>
        </p:nvSpPr>
        <p:spPr>
          <a:xfrm>
            <a:off x="6069175" y="4452717"/>
            <a:ext cx="7556421" cy="952619"/>
          </a:xfrm>
          <a:prstGeom prst="rect">
            <a:avLst/>
          </a:prstGeom>
          <a:noFill/>
          <a:ln/>
        </p:spPr>
        <p:txBody>
          <a:bodyPr wrap="square" lIns="0" tIns="0" rIns="0" bIns="0" rtlCol="0" anchor="t"/>
          <a:lstStyle/>
          <a:p>
            <a:pPr marL="0" indent="0" algn="l">
              <a:lnSpc>
                <a:spcPts val="2500"/>
              </a:lnSpc>
              <a:buNone/>
            </a:pPr>
            <a:r>
              <a:rPr lang="en-US" sz="1550" dirty="0">
                <a:solidFill>
                  <a:srgbClr val="BDA189"/>
                </a:solidFill>
                <a:latin typeface="Manrope" pitchFamily="34" charset="0"/>
                <a:ea typeface="Manrope" pitchFamily="34" charset="-122"/>
                <a:cs typeface="Manrope" pitchFamily="34" charset="-120"/>
              </a:rPr>
              <a:t>IoT-Based Fan &amp; Light Control with Cloud Dashboard — an end-to-end system that senses, decides, and acts in real time to conserve energy and improve home comfort.</a:t>
            </a:r>
            <a:endParaRPr lang="en-US" sz="1550" dirty="0"/>
          </a:p>
        </p:txBody>
      </p:sp>
      <p:pic>
        <p:nvPicPr>
          <p:cNvPr id="11" name="Picture 10"/>
          <p:cNvPicPr>
            <a:picLocks noChangeAspect="1"/>
          </p:cNvPicPr>
          <p:nvPr/>
        </p:nvPicPr>
        <p:blipFill>
          <a:blip r:embed="rId3"/>
          <a:stretch>
            <a:fillRect/>
          </a:stretch>
        </p:blipFill>
        <p:spPr>
          <a:xfrm>
            <a:off x="12068933" y="7753785"/>
            <a:ext cx="2438740" cy="371527"/>
          </a:xfrm>
          <a:prstGeom prst="rect">
            <a:avLst/>
          </a:prstGeom>
        </p:spPr>
      </p:pic>
      <p:sp>
        <p:nvSpPr>
          <p:cNvPr id="13" name="AutoShape 4">
            <a:extLst>
              <a:ext uri="{FF2B5EF4-FFF2-40B4-BE49-F238E27FC236}">
                <a16:creationId xmlns:a16="http://schemas.microsoft.com/office/drawing/2014/main" id="{046D88C7-F9A3-41A9-F920-DF29A79B4FA6}"/>
              </a:ext>
            </a:extLst>
          </p:cNvPr>
          <p:cNvSpPr>
            <a:spLocks noChangeAspect="1" noChangeArrowheads="1"/>
          </p:cNvSpPr>
          <p:nvPr/>
        </p:nvSpPr>
        <p:spPr bwMode="auto">
          <a:xfrm>
            <a:off x="7162800" y="3962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5" name="Picture 14">
            <a:extLst>
              <a:ext uri="{FF2B5EF4-FFF2-40B4-BE49-F238E27FC236}">
                <a16:creationId xmlns:a16="http://schemas.microsoft.com/office/drawing/2014/main" id="{7DA4F4C2-2CE3-628F-FE14-BA9AE7B957F5}"/>
              </a:ext>
            </a:extLst>
          </p:cNvPr>
          <p:cNvPicPr>
            <a:picLocks noChangeAspect="1"/>
          </p:cNvPicPr>
          <p:nvPr/>
        </p:nvPicPr>
        <p:blipFill>
          <a:blip r:embed="rId4"/>
          <a:stretch>
            <a:fillRect/>
          </a:stretch>
        </p:blipFill>
        <p:spPr>
          <a:xfrm>
            <a:off x="0" y="0"/>
            <a:ext cx="5486400" cy="82296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Shape 0"/>
          <p:cNvSpPr/>
          <p:nvPr/>
        </p:nvSpPr>
        <p:spPr>
          <a:xfrm>
            <a:off x="6181011" y="492800"/>
            <a:ext cx="1640562" cy="312420"/>
          </a:xfrm>
          <a:prstGeom prst="roundRect">
            <a:avLst>
              <a:gd name="adj" fmla="val 6670"/>
            </a:avLst>
          </a:prstGeom>
          <a:solidFill>
            <a:srgbClr val="391F13"/>
          </a:solidFill>
          <a:ln/>
        </p:spPr>
        <p:txBody>
          <a:bodyPr/>
          <a:lstStyle/>
          <a:p>
            <a:endParaRPr lang="en-IN"/>
          </a:p>
        </p:txBody>
      </p:sp>
      <p:sp>
        <p:nvSpPr>
          <p:cNvPr id="4" name="Text 1"/>
          <p:cNvSpPr/>
          <p:nvPr/>
        </p:nvSpPr>
        <p:spPr>
          <a:xfrm>
            <a:off x="6285190" y="544830"/>
            <a:ext cx="1432203" cy="208359"/>
          </a:xfrm>
          <a:prstGeom prst="rect">
            <a:avLst/>
          </a:prstGeom>
          <a:noFill/>
          <a:ln/>
        </p:spPr>
        <p:txBody>
          <a:bodyPr wrap="none" lIns="0" tIns="0" rIns="0" bIns="0" rtlCol="0" anchor="t"/>
          <a:lstStyle/>
          <a:p>
            <a:pPr marL="0" indent="0" algn="l">
              <a:lnSpc>
                <a:spcPts val="1600"/>
              </a:lnSpc>
              <a:buNone/>
            </a:pPr>
            <a:r>
              <a:rPr lang="en-US" sz="1050" dirty="0">
                <a:solidFill>
                  <a:srgbClr val="BDA189"/>
                </a:solidFill>
                <a:latin typeface="Manrope" pitchFamily="34" charset="0"/>
                <a:ea typeface="Manrope" pitchFamily="34" charset="-122"/>
                <a:cs typeface="Manrope" pitchFamily="34" charset="-120"/>
              </a:rPr>
              <a:t>PROBLEM STATEMENT</a:t>
            </a:r>
            <a:endParaRPr lang="en-US" sz="1050" dirty="0"/>
          </a:p>
        </p:txBody>
      </p:sp>
      <p:sp>
        <p:nvSpPr>
          <p:cNvPr id="5" name="Text 2"/>
          <p:cNvSpPr/>
          <p:nvPr/>
        </p:nvSpPr>
        <p:spPr>
          <a:xfrm>
            <a:off x="6181011" y="865942"/>
            <a:ext cx="5637728" cy="542687"/>
          </a:xfrm>
          <a:prstGeom prst="rect">
            <a:avLst/>
          </a:prstGeom>
          <a:noFill/>
          <a:ln/>
        </p:spPr>
        <p:txBody>
          <a:bodyPr wrap="none" lIns="0" tIns="0" rIns="0" bIns="0" rtlCol="0" anchor="t"/>
          <a:lstStyle/>
          <a:p>
            <a:pPr marL="0" indent="0" algn="l">
              <a:lnSpc>
                <a:spcPts val="4250"/>
              </a:lnSpc>
              <a:buNone/>
            </a:pPr>
            <a:r>
              <a:rPr lang="en-US" sz="3400" dirty="0">
                <a:solidFill>
                  <a:srgbClr val="F2D4BA"/>
                </a:solidFill>
                <a:latin typeface="Prata" pitchFamily="34" charset="0"/>
                <a:ea typeface="Prata" pitchFamily="34" charset="-122"/>
                <a:cs typeface="Prata" pitchFamily="34" charset="-120"/>
              </a:rPr>
              <a:t>The Problem We're Solving</a:t>
            </a:r>
            <a:endParaRPr lang="en-US" sz="3400" dirty="0"/>
          </a:p>
        </p:txBody>
      </p:sp>
      <p:sp>
        <p:nvSpPr>
          <p:cNvPr id="6" name="Text 3"/>
          <p:cNvSpPr/>
          <p:nvPr/>
        </p:nvSpPr>
        <p:spPr>
          <a:xfrm>
            <a:off x="6181011" y="1636514"/>
            <a:ext cx="7754779" cy="781526"/>
          </a:xfrm>
          <a:prstGeom prst="rect">
            <a:avLst/>
          </a:prstGeom>
          <a:noFill/>
          <a:ln/>
        </p:spPr>
        <p:txBody>
          <a:bodyPr wrap="square" lIns="0" tIns="0" rIns="0" bIns="0" rtlCol="0" anchor="t"/>
          <a:lstStyle/>
          <a:p>
            <a:pPr marL="0" indent="0" algn="l">
              <a:lnSpc>
                <a:spcPts val="2050"/>
              </a:lnSpc>
              <a:buNone/>
            </a:pPr>
            <a:r>
              <a:rPr lang="en-US" sz="1350" dirty="0">
                <a:solidFill>
                  <a:srgbClr val="BDA189"/>
                </a:solidFill>
                <a:latin typeface="Manrope" pitchFamily="34" charset="0"/>
                <a:ea typeface="Manrope" pitchFamily="34" charset="-122"/>
                <a:cs typeface="Manrope" pitchFamily="34" charset="-120"/>
              </a:rPr>
              <a:t>Traditional homes are energy-inefficient by design. Lights and fans continue running in unoccupied rooms, driving up electricity bills and carbon footprints — with zero real-time visibility into consumption patterns.</a:t>
            </a:r>
            <a:endParaRPr lang="en-US" sz="1350" dirty="0"/>
          </a:p>
        </p:txBody>
      </p:sp>
      <p:sp>
        <p:nvSpPr>
          <p:cNvPr id="7" name="Shape 4"/>
          <p:cNvSpPr/>
          <p:nvPr/>
        </p:nvSpPr>
        <p:spPr>
          <a:xfrm>
            <a:off x="6181011" y="2588895"/>
            <a:ext cx="7754779" cy="1238131"/>
          </a:xfrm>
          <a:prstGeom prst="roundRect">
            <a:avLst>
              <a:gd name="adj" fmla="val 2104"/>
            </a:avLst>
          </a:prstGeom>
          <a:solidFill>
            <a:srgbClr val="404245"/>
          </a:solidFill>
          <a:ln/>
        </p:spPr>
        <p:txBody>
          <a:bodyPr/>
          <a:lstStyle/>
          <a:p>
            <a:endParaRPr lang="en-IN"/>
          </a:p>
        </p:txBody>
      </p:sp>
      <p:sp>
        <p:nvSpPr>
          <p:cNvPr id="8" name="Text 5"/>
          <p:cNvSpPr/>
          <p:nvPr/>
        </p:nvSpPr>
        <p:spPr>
          <a:xfrm>
            <a:off x="6354604" y="2762488"/>
            <a:ext cx="2170748" cy="278844"/>
          </a:xfrm>
          <a:prstGeom prst="rect">
            <a:avLst/>
          </a:prstGeom>
          <a:noFill/>
          <a:ln/>
        </p:spPr>
        <p:txBody>
          <a:bodyPr wrap="none" lIns="0" tIns="0" rIns="0" bIns="0" rtlCol="0" anchor="t"/>
          <a:lstStyle/>
          <a:p>
            <a:pPr marL="0" indent="0" algn="l">
              <a:lnSpc>
                <a:spcPts val="2100"/>
              </a:lnSpc>
              <a:buNone/>
            </a:pPr>
            <a:r>
              <a:rPr lang="en-US" sz="1700" dirty="0">
                <a:solidFill>
                  <a:srgbClr val="000000"/>
                </a:solidFill>
                <a:latin typeface="Prata" pitchFamily="34" charset="0"/>
                <a:ea typeface="Prata" pitchFamily="34" charset="-122"/>
                <a:cs typeface="Prata" pitchFamily="34" charset="-120"/>
              </a:rPr>
              <a:t>🔌</a:t>
            </a:r>
            <a:r>
              <a:rPr lang="en-US" sz="1700" dirty="0">
                <a:solidFill>
                  <a:srgbClr val="FFFFFF"/>
                </a:solidFill>
                <a:latin typeface="Prata" pitchFamily="34" charset="0"/>
                <a:ea typeface="Prata" pitchFamily="34" charset="-122"/>
                <a:cs typeface="Prata" pitchFamily="34" charset="-120"/>
              </a:rPr>
              <a:t> Energy Waste</a:t>
            </a:r>
            <a:endParaRPr lang="en-US" sz="1700" dirty="0"/>
          </a:p>
        </p:txBody>
      </p:sp>
      <p:sp>
        <p:nvSpPr>
          <p:cNvPr id="9" name="Text 6"/>
          <p:cNvSpPr/>
          <p:nvPr/>
        </p:nvSpPr>
        <p:spPr>
          <a:xfrm>
            <a:off x="6354604" y="3132415"/>
            <a:ext cx="7407593" cy="521017"/>
          </a:xfrm>
          <a:prstGeom prst="rect">
            <a:avLst/>
          </a:prstGeom>
          <a:noFill/>
          <a:ln/>
        </p:spPr>
        <p:txBody>
          <a:bodyPr wrap="square" lIns="0" tIns="0" rIns="0" bIns="0" rtlCol="0" anchor="t"/>
          <a:lstStyle/>
          <a:p>
            <a:pPr marL="0" indent="0" algn="l">
              <a:lnSpc>
                <a:spcPts val="2050"/>
              </a:lnSpc>
              <a:buNone/>
            </a:pPr>
            <a:r>
              <a:rPr lang="en-US" sz="1350" dirty="0">
                <a:solidFill>
                  <a:srgbClr val="FFFFFF"/>
                </a:solidFill>
                <a:latin typeface="Manrope" pitchFamily="34" charset="0"/>
                <a:ea typeface="Manrope" pitchFamily="34" charset="-122"/>
                <a:cs typeface="Manrope" pitchFamily="34" charset="-120"/>
              </a:rPr>
              <a:t>Appliances run continuously regardless of occupancy, wasting significant electricity each day.</a:t>
            </a:r>
            <a:endParaRPr lang="en-US" sz="1350" dirty="0"/>
          </a:p>
        </p:txBody>
      </p:sp>
      <p:sp>
        <p:nvSpPr>
          <p:cNvPr id="10" name="Shape 7"/>
          <p:cNvSpPr/>
          <p:nvPr/>
        </p:nvSpPr>
        <p:spPr>
          <a:xfrm>
            <a:off x="6181011" y="3978950"/>
            <a:ext cx="7754779" cy="1238131"/>
          </a:xfrm>
          <a:prstGeom prst="roundRect">
            <a:avLst>
              <a:gd name="adj" fmla="val 2104"/>
            </a:avLst>
          </a:prstGeom>
          <a:solidFill>
            <a:srgbClr val="404245"/>
          </a:solidFill>
          <a:ln/>
        </p:spPr>
        <p:txBody>
          <a:bodyPr/>
          <a:lstStyle/>
          <a:p>
            <a:endParaRPr lang="en-IN"/>
          </a:p>
        </p:txBody>
      </p:sp>
      <p:sp>
        <p:nvSpPr>
          <p:cNvPr id="11" name="Text 8"/>
          <p:cNvSpPr/>
          <p:nvPr/>
        </p:nvSpPr>
        <p:spPr>
          <a:xfrm>
            <a:off x="6354604" y="4152543"/>
            <a:ext cx="2170748" cy="278844"/>
          </a:xfrm>
          <a:prstGeom prst="rect">
            <a:avLst/>
          </a:prstGeom>
          <a:noFill/>
          <a:ln/>
        </p:spPr>
        <p:txBody>
          <a:bodyPr wrap="none" lIns="0" tIns="0" rIns="0" bIns="0" rtlCol="0" anchor="t"/>
          <a:lstStyle/>
          <a:p>
            <a:pPr marL="0" indent="0" algn="l">
              <a:lnSpc>
                <a:spcPts val="2100"/>
              </a:lnSpc>
              <a:buNone/>
            </a:pPr>
            <a:r>
              <a:rPr lang="en-US" sz="1700" dirty="0">
                <a:solidFill>
                  <a:srgbClr val="000000"/>
                </a:solidFill>
                <a:latin typeface="Prata" pitchFamily="34" charset="0"/>
                <a:ea typeface="Prata" pitchFamily="34" charset="-122"/>
                <a:cs typeface="Prata" pitchFamily="34" charset="-120"/>
              </a:rPr>
              <a:t>📊</a:t>
            </a:r>
            <a:r>
              <a:rPr lang="en-US" sz="1700" dirty="0">
                <a:solidFill>
                  <a:srgbClr val="FFFFFF"/>
                </a:solidFill>
                <a:latin typeface="Prata" pitchFamily="34" charset="0"/>
                <a:ea typeface="Prata" pitchFamily="34" charset="-122"/>
                <a:cs typeface="Prata" pitchFamily="34" charset="-120"/>
              </a:rPr>
              <a:t> No Visibility</a:t>
            </a:r>
            <a:endParaRPr lang="en-US" sz="1700" dirty="0"/>
          </a:p>
        </p:txBody>
      </p:sp>
      <p:sp>
        <p:nvSpPr>
          <p:cNvPr id="12" name="Text 9"/>
          <p:cNvSpPr/>
          <p:nvPr/>
        </p:nvSpPr>
        <p:spPr>
          <a:xfrm>
            <a:off x="6354604" y="4522470"/>
            <a:ext cx="7407593" cy="521017"/>
          </a:xfrm>
          <a:prstGeom prst="rect">
            <a:avLst/>
          </a:prstGeom>
          <a:noFill/>
          <a:ln/>
        </p:spPr>
        <p:txBody>
          <a:bodyPr wrap="square" lIns="0" tIns="0" rIns="0" bIns="0" rtlCol="0" anchor="t"/>
          <a:lstStyle/>
          <a:p>
            <a:pPr marL="0" indent="0" algn="l">
              <a:lnSpc>
                <a:spcPts val="2050"/>
              </a:lnSpc>
              <a:buNone/>
            </a:pPr>
            <a:r>
              <a:rPr lang="en-US" sz="1350" dirty="0">
                <a:solidFill>
                  <a:srgbClr val="FFFFFF"/>
                </a:solidFill>
                <a:latin typeface="Manrope" pitchFamily="34" charset="0"/>
                <a:ea typeface="Manrope" pitchFamily="34" charset="-122"/>
                <a:cs typeface="Manrope" pitchFamily="34" charset="-120"/>
              </a:rPr>
              <a:t>Homeowners lack real-time data on power consumption, making informed decisions impossible.</a:t>
            </a:r>
            <a:endParaRPr lang="en-US" sz="1350" dirty="0"/>
          </a:p>
        </p:txBody>
      </p:sp>
      <p:sp>
        <p:nvSpPr>
          <p:cNvPr id="13" name="Shape 10"/>
          <p:cNvSpPr/>
          <p:nvPr/>
        </p:nvSpPr>
        <p:spPr>
          <a:xfrm>
            <a:off x="6181011" y="5369004"/>
            <a:ext cx="7754779" cy="977622"/>
          </a:xfrm>
          <a:prstGeom prst="roundRect">
            <a:avLst>
              <a:gd name="adj" fmla="val 2665"/>
            </a:avLst>
          </a:prstGeom>
          <a:solidFill>
            <a:srgbClr val="404245"/>
          </a:solidFill>
          <a:ln/>
        </p:spPr>
        <p:txBody>
          <a:bodyPr/>
          <a:lstStyle/>
          <a:p>
            <a:endParaRPr lang="en-IN"/>
          </a:p>
        </p:txBody>
      </p:sp>
      <p:sp>
        <p:nvSpPr>
          <p:cNvPr id="14" name="Text 11"/>
          <p:cNvSpPr/>
          <p:nvPr/>
        </p:nvSpPr>
        <p:spPr>
          <a:xfrm>
            <a:off x="6354604" y="5542598"/>
            <a:ext cx="2170748" cy="278844"/>
          </a:xfrm>
          <a:prstGeom prst="rect">
            <a:avLst/>
          </a:prstGeom>
          <a:noFill/>
          <a:ln/>
        </p:spPr>
        <p:txBody>
          <a:bodyPr wrap="none" lIns="0" tIns="0" rIns="0" bIns="0" rtlCol="0" anchor="t"/>
          <a:lstStyle/>
          <a:p>
            <a:pPr marL="0" indent="0" algn="l">
              <a:lnSpc>
                <a:spcPts val="2100"/>
              </a:lnSpc>
              <a:buNone/>
            </a:pPr>
            <a:r>
              <a:rPr lang="en-US" sz="1700" dirty="0">
                <a:solidFill>
                  <a:srgbClr val="000000"/>
                </a:solidFill>
                <a:latin typeface="Prata" pitchFamily="34" charset="0"/>
                <a:ea typeface="Prata" pitchFamily="34" charset="-122"/>
                <a:cs typeface="Prata" pitchFamily="34" charset="-120"/>
              </a:rPr>
              <a:t>🖐</a:t>
            </a:r>
            <a:r>
              <a:rPr lang="en-US" sz="1700" dirty="0">
                <a:solidFill>
                  <a:srgbClr val="FFFFFF"/>
                </a:solidFill>
                <a:latin typeface="Prata" pitchFamily="34" charset="0"/>
                <a:ea typeface="Prata" pitchFamily="34" charset="-122"/>
                <a:cs typeface="Prata" pitchFamily="34" charset="-120"/>
              </a:rPr>
              <a:t> Manual Control</a:t>
            </a:r>
            <a:endParaRPr lang="en-US" sz="1700" dirty="0"/>
          </a:p>
        </p:txBody>
      </p:sp>
      <p:sp>
        <p:nvSpPr>
          <p:cNvPr id="15" name="Text 12"/>
          <p:cNvSpPr/>
          <p:nvPr/>
        </p:nvSpPr>
        <p:spPr>
          <a:xfrm>
            <a:off x="6354604" y="5912525"/>
            <a:ext cx="7407593" cy="260509"/>
          </a:xfrm>
          <a:prstGeom prst="rect">
            <a:avLst/>
          </a:prstGeom>
          <a:noFill/>
          <a:ln/>
        </p:spPr>
        <p:txBody>
          <a:bodyPr wrap="none" lIns="0" tIns="0" rIns="0" bIns="0" rtlCol="0" anchor="t"/>
          <a:lstStyle/>
          <a:p>
            <a:pPr marL="0" indent="0" algn="l">
              <a:lnSpc>
                <a:spcPts val="2050"/>
              </a:lnSpc>
              <a:buNone/>
            </a:pPr>
            <a:r>
              <a:rPr lang="en-US" sz="1350" dirty="0">
                <a:solidFill>
                  <a:srgbClr val="FFFFFF"/>
                </a:solidFill>
                <a:latin typeface="Manrope" pitchFamily="34" charset="0"/>
                <a:ea typeface="Manrope" pitchFamily="34" charset="-122"/>
                <a:cs typeface="Manrope" pitchFamily="34" charset="-120"/>
              </a:rPr>
              <a:t>Switching devices on and off manually is inconvenient, error-prone, and unsustainable.</a:t>
            </a:r>
            <a:endParaRPr lang="en-US" sz="1350" dirty="0"/>
          </a:p>
        </p:txBody>
      </p:sp>
      <p:sp>
        <p:nvSpPr>
          <p:cNvPr id="16" name="Shape 13"/>
          <p:cNvSpPr/>
          <p:nvPr/>
        </p:nvSpPr>
        <p:spPr>
          <a:xfrm>
            <a:off x="6181011" y="6498550"/>
            <a:ext cx="7754779" cy="1238131"/>
          </a:xfrm>
          <a:prstGeom prst="roundRect">
            <a:avLst>
              <a:gd name="adj" fmla="val 2104"/>
            </a:avLst>
          </a:prstGeom>
          <a:solidFill>
            <a:srgbClr val="404245"/>
          </a:solidFill>
          <a:ln/>
        </p:spPr>
        <p:txBody>
          <a:bodyPr/>
          <a:lstStyle/>
          <a:p>
            <a:endParaRPr lang="en-IN"/>
          </a:p>
        </p:txBody>
      </p:sp>
      <p:sp>
        <p:nvSpPr>
          <p:cNvPr id="17" name="Text 14"/>
          <p:cNvSpPr/>
          <p:nvPr/>
        </p:nvSpPr>
        <p:spPr>
          <a:xfrm>
            <a:off x="6354604" y="6672143"/>
            <a:ext cx="2170748" cy="278844"/>
          </a:xfrm>
          <a:prstGeom prst="rect">
            <a:avLst/>
          </a:prstGeom>
          <a:noFill/>
          <a:ln/>
        </p:spPr>
        <p:txBody>
          <a:bodyPr wrap="none" lIns="0" tIns="0" rIns="0" bIns="0" rtlCol="0" anchor="t"/>
          <a:lstStyle/>
          <a:p>
            <a:pPr marL="0" indent="0" algn="l">
              <a:lnSpc>
                <a:spcPts val="2100"/>
              </a:lnSpc>
              <a:buNone/>
            </a:pPr>
            <a:r>
              <a:rPr lang="en-US" sz="1700" dirty="0">
                <a:solidFill>
                  <a:srgbClr val="000000"/>
                </a:solidFill>
                <a:latin typeface="Prata" pitchFamily="34" charset="0"/>
                <a:ea typeface="Prata" pitchFamily="34" charset="-122"/>
                <a:cs typeface="Prata" pitchFamily="34" charset="-120"/>
              </a:rPr>
              <a:t>🤖</a:t>
            </a:r>
            <a:r>
              <a:rPr lang="en-US" sz="1700" dirty="0">
                <a:solidFill>
                  <a:srgbClr val="FFFFFF"/>
                </a:solidFill>
                <a:latin typeface="Prata" pitchFamily="34" charset="0"/>
                <a:ea typeface="Prata" pitchFamily="34" charset="-122"/>
                <a:cs typeface="Prata" pitchFamily="34" charset="-120"/>
              </a:rPr>
              <a:t> The Need</a:t>
            </a:r>
            <a:endParaRPr lang="en-US" sz="1700" dirty="0"/>
          </a:p>
        </p:txBody>
      </p:sp>
      <p:sp>
        <p:nvSpPr>
          <p:cNvPr id="18" name="Text 15"/>
          <p:cNvSpPr/>
          <p:nvPr/>
        </p:nvSpPr>
        <p:spPr>
          <a:xfrm>
            <a:off x="6354604" y="7042071"/>
            <a:ext cx="7407593" cy="521017"/>
          </a:xfrm>
          <a:prstGeom prst="rect">
            <a:avLst/>
          </a:prstGeom>
          <a:noFill/>
          <a:ln/>
        </p:spPr>
        <p:txBody>
          <a:bodyPr wrap="square" lIns="0" tIns="0" rIns="0" bIns="0" rtlCol="0" anchor="t"/>
          <a:lstStyle/>
          <a:p>
            <a:pPr marL="0" indent="0" algn="l">
              <a:lnSpc>
                <a:spcPts val="2050"/>
              </a:lnSpc>
              <a:buNone/>
            </a:pPr>
            <a:r>
              <a:rPr lang="en-US" sz="1350" dirty="0">
                <a:solidFill>
                  <a:srgbClr val="FFFFFF"/>
                </a:solidFill>
                <a:latin typeface="Manrope" pitchFamily="34" charset="0"/>
                <a:ea typeface="Manrope" pitchFamily="34" charset="-122"/>
                <a:cs typeface="Manrope" pitchFamily="34" charset="-120"/>
              </a:rPr>
              <a:t>An intelligent, automated system that responds to occupancy and temperature — autonomously.</a:t>
            </a:r>
            <a:endParaRPr lang="en-US" sz="1350" dirty="0"/>
          </a:p>
        </p:txBody>
      </p:sp>
      <p:pic>
        <p:nvPicPr>
          <p:cNvPr id="19" name="Picture 18"/>
          <p:cNvPicPr>
            <a:picLocks noChangeAspect="1"/>
          </p:cNvPicPr>
          <p:nvPr/>
        </p:nvPicPr>
        <p:blipFill>
          <a:blip r:embed="rId4"/>
          <a:stretch>
            <a:fillRect/>
          </a:stretch>
        </p:blipFill>
        <p:spPr>
          <a:xfrm>
            <a:off x="12191660" y="7789172"/>
            <a:ext cx="2438740" cy="371527"/>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793790" y="546021"/>
            <a:ext cx="1712357" cy="373142"/>
          </a:xfrm>
          <a:prstGeom prst="roundRect">
            <a:avLst>
              <a:gd name="adj" fmla="val 6383"/>
            </a:avLst>
          </a:prstGeom>
          <a:solidFill>
            <a:srgbClr val="391F13"/>
          </a:solidFill>
          <a:ln/>
        </p:spPr>
        <p:txBody>
          <a:bodyPr/>
          <a:lstStyle/>
          <a:p>
            <a:endParaRPr lang="en-IN"/>
          </a:p>
        </p:txBody>
      </p:sp>
      <p:sp>
        <p:nvSpPr>
          <p:cNvPr id="3" name="Text 1"/>
          <p:cNvSpPr/>
          <p:nvPr/>
        </p:nvSpPr>
        <p:spPr>
          <a:xfrm>
            <a:off x="912852" y="605552"/>
            <a:ext cx="1474232" cy="254079"/>
          </a:xfrm>
          <a:prstGeom prst="rect">
            <a:avLst/>
          </a:prstGeom>
          <a:noFill/>
          <a:ln/>
        </p:spPr>
        <p:txBody>
          <a:bodyPr wrap="none" lIns="0" tIns="0" rIns="0" bIns="0" rtlCol="0" anchor="t"/>
          <a:lstStyle/>
          <a:p>
            <a:pPr marL="0" indent="0" algn="l">
              <a:lnSpc>
                <a:spcPts val="2000"/>
              </a:lnSpc>
              <a:buNone/>
            </a:pPr>
            <a:r>
              <a:rPr lang="en-US" sz="1250" dirty="0">
                <a:solidFill>
                  <a:srgbClr val="BDA189"/>
                </a:solidFill>
                <a:latin typeface="Manrope" pitchFamily="34" charset="0"/>
                <a:ea typeface="Manrope" pitchFamily="34" charset="-122"/>
                <a:cs typeface="Manrope" pitchFamily="34" charset="-120"/>
              </a:rPr>
              <a:t>PROJECT OVERVIEW</a:t>
            </a:r>
            <a:endParaRPr lang="en-US" sz="1250" dirty="0"/>
          </a:p>
        </p:txBody>
      </p:sp>
      <p:sp>
        <p:nvSpPr>
          <p:cNvPr id="4" name="Text 2"/>
          <p:cNvSpPr/>
          <p:nvPr/>
        </p:nvSpPr>
        <p:spPr>
          <a:xfrm>
            <a:off x="793790" y="998458"/>
            <a:ext cx="4961811" cy="620078"/>
          </a:xfrm>
          <a:prstGeom prst="rect">
            <a:avLst/>
          </a:prstGeom>
          <a:noFill/>
          <a:ln/>
        </p:spPr>
        <p:txBody>
          <a:bodyPr wrap="none" lIns="0" tIns="0" rIns="0" bIns="0" rtlCol="0" anchor="t"/>
          <a:lstStyle/>
          <a:p>
            <a:pPr marL="0" indent="0" algn="l">
              <a:lnSpc>
                <a:spcPts val="4850"/>
              </a:lnSpc>
              <a:buNone/>
            </a:pPr>
            <a:r>
              <a:rPr lang="en-US" sz="3900" dirty="0">
                <a:solidFill>
                  <a:srgbClr val="F2D4BA"/>
                </a:solidFill>
                <a:latin typeface="Prata" pitchFamily="34" charset="0"/>
                <a:ea typeface="Prata" pitchFamily="34" charset="-122"/>
                <a:cs typeface="Prata" pitchFamily="34" charset="-120"/>
              </a:rPr>
              <a:t>What We Built</a:t>
            </a:r>
            <a:endParaRPr lang="en-US" sz="3900" dirty="0"/>
          </a:p>
        </p:txBody>
      </p:sp>
      <p:sp>
        <p:nvSpPr>
          <p:cNvPr id="5" name="Shape 3"/>
          <p:cNvSpPr/>
          <p:nvPr/>
        </p:nvSpPr>
        <p:spPr>
          <a:xfrm>
            <a:off x="650915" y="1916192"/>
            <a:ext cx="6565106" cy="5767268"/>
          </a:xfrm>
          <a:prstGeom prst="roundRect">
            <a:avLst>
              <a:gd name="adj" fmla="val 516"/>
            </a:avLst>
          </a:prstGeom>
          <a:solidFill>
            <a:srgbClr val="84482D"/>
          </a:solidFill>
          <a:ln/>
        </p:spPr>
        <p:txBody>
          <a:bodyPr/>
          <a:lstStyle/>
          <a:p>
            <a:endParaRPr lang="en-IN"/>
          </a:p>
        </p:txBody>
      </p:sp>
      <p:sp>
        <p:nvSpPr>
          <p:cNvPr id="6" name="Text 4"/>
          <p:cNvSpPr/>
          <p:nvPr/>
        </p:nvSpPr>
        <p:spPr>
          <a:xfrm>
            <a:off x="849273" y="2114550"/>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F2D4BA"/>
                </a:solidFill>
                <a:latin typeface="Prata" pitchFamily="34" charset="0"/>
                <a:ea typeface="Prata" pitchFamily="34" charset="-122"/>
                <a:cs typeface="Prata" pitchFamily="34" charset="-120"/>
              </a:rPr>
              <a:t>The Core Idea</a:t>
            </a:r>
            <a:endParaRPr lang="en-US" sz="1950" dirty="0"/>
          </a:p>
        </p:txBody>
      </p:sp>
      <p:sp>
        <p:nvSpPr>
          <p:cNvPr id="7" name="Text 5"/>
          <p:cNvSpPr/>
          <p:nvPr/>
        </p:nvSpPr>
        <p:spPr>
          <a:xfrm>
            <a:off x="849273" y="2623066"/>
            <a:ext cx="6168390" cy="1270159"/>
          </a:xfrm>
          <a:prstGeom prst="rect">
            <a:avLst/>
          </a:prstGeom>
          <a:noFill/>
          <a:ln/>
        </p:spPr>
        <p:txBody>
          <a:bodyPr wrap="square" lIns="0" tIns="0" rIns="0" bIns="0" rtlCol="0" anchor="t"/>
          <a:lstStyle/>
          <a:p>
            <a:pPr marL="0" indent="0" algn="l">
              <a:lnSpc>
                <a:spcPts val="2500"/>
              </a:lnSpc>
              <a:buNone/>
            </a:pPr>
            <a:r>
              <a:rPr lang="en-US" sz="1550" dirty="0">
                <a:solidFill>
                  <a:srgbClr val="FFFFFF"/>
                </a:solidFill>
                <a:latin typeface="Manrope" pitchFamily="34" charset="0"/>
                <a:ea typeface="Manrope" pitchFamily="34" charset="-122"/>
                <a:cs typeface="Manrope" pitchFamily="34" charset="-120"/>
              </a:rPr>
              <a:t>An IoT-based Smart Home Automation system that automatically controls a fan and light based on motion detection and room temperature — with all data streamed live to a cloud dashboard and Google Sheets.</a:t>
            </a:r>
            <a:endParaRPr lang="en-US" sz="1550" dirty="0"/>
          </a:p>
        </p:txBody>
      </p:sp>
      <p:sp>
        <p:nvSpPr>
          <p:cNvPr id="8" name="Text 6"/>
          <p:cNvSpPr/>
          <p:nvPr/>
        </p:nvSpPr>
        <p:spPr>
          <a:xfrm>
            <a:off x="849273" y="4071818"/>
            <a:ext cx="6168390" cy="952619"/>
          </a:xfrm>
          <a:prstGeom prst="rect">
            <a:avLst/>
          </a:prstGeom>
          <a:noFill/>
          <a:ln/>
        </p:spPr>
        <p:txBody>
          <a:bodyPr wrap="square" lIns="0" tIns="0" rIns="0" bIns="0" rtlCol="0" anchor="t"/>
          <a:lstStyle/>
          <a:p>
            <a:pPr marL="0" indent="0" algn="l">
              <a:lnSpc>
                <a:spcPts val="2500"/>
              </a:lnSpc>
              <a:buNone/>
            </a:pPr>
            <a:r>
              <a:rPr lang="en-US" sz="1550" dirty="0">
                <a:solidFill>
                  <a:srgbClr val="FFFFFF"/>
                </a:solidFill>
                <a:latin typeface="Manrope" pitchFamily="34" charset="0"/>
                <a:ea typeface="Manrope" pitchFamily="34" charset="-122"/>
                <a:cs typeface="Manrope" pitchFamily="34" charset="-120"/>
              </a:rPr>
              <a:t>The system replaces manual switches with intelligent, sensor-driven decisions, reducing energy waste without sacrificing comfort.</a:t>
            </a:r>
            <a:endParaRPr lang="en-US" sz="1550" dirty="0"/>
          </a:p>
        </p:txBody>
      </p:sp>
      <p:sp>
        <p:nvSpPr>
          <p:cNvPr id="9" name="Text 7"/>
          <p:cNvSpPr/>
          <p:nvPr/>
        </p:nvSpPr>
        <p:spPr>
          <a:xfrm>
            <a:off x="7564874" y="2114550"/>
            <a:ext cx="2769989" cy="310158"/>
          </a:xfrm>
          <a:prstGeom prst="rect">
            <a:avLst/>
          </a:prstGeom>
          <a:noFill/>
          <a:ln/>
        </p:spPr>
        <p:txBody>
          <a:bodyPr wrap="none" lIns="0" tIns="0" rIns="0" bIns="0" rtlCol="0" anchor="t"/>
          <a:lstStyle/>
          <a:p>
            <a:pPr marL="0" indent="0" algn="l">
              <a:lnSpc>
                <a:spcPts val="2400"/>
              </a:lnSpc>
              <a:buNone/>
            </a:pPr>
            <a:r>
              <a:rPr lang="en-US" sz="1950" dirty="0">
                <a:solidFill>
                  <a:srgbClr val="F2D4BA"/>
                </a:solidFill>
                <a:latin typeface="Prata" pitchFamily="34" charset="0"/>
                <a:ea typeface="Prata" pitchFamily="34" charset="-122"/>
                <a:cs typeface="Prata" pitchFamily="34" charset="-120"/>
              </a:rPr>
              <a:t>Full-Stack Architecture</a:t>
            </a:r>
            <a:endParaRPr lang="en-US" sz="1950" dirty="0"/>
          </a:p>
        </p:txBody>
      </p:sp>
      <p:pic>
        <p:nvPicPr>
          <p:cNvPr id="10"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639288" y="2654022"/>
            <a:ext cx="297656" cy="297656"/>
          </a:xfrm>
          <a:prstGeom prst="rect">
            <a:avLst/>
          </a:prstGeom>
        </p:spPr>
      </p:pic>
      <p:sp>
        <p:nvSpPr>
          <p:cNvPr id="11" name="Text 8"/>
          <p:cNvSpPr/>
          <p:nvPr/>
        </p:nvSpPr>
        <p:spPr>
          <a:xfrm>
            <a:off x="8209717" y="2647950"/>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BDA189"/>
                </a:solidFill>
                <a:latin typeface="Prata" pitchFamily="34" charset="0"/>
                <a:ea typeface="Prata" pitchFamily="34" charset="-122"/>
                <a:cs typeface="Prata" pitchFamily="34" charset="-120"/>
              </a:rPr>
              <a:t>Hardware Layer</a:t>
            </a:r>
            <a:endParaRPr lang="en-US" sz="1950" dirty="0"/>
          </a:p>
        </p:txBody>
      </p:sp>
      <p:sp>
        <p:nvSpPr>
          <p:cNvPr id="12" name="Text 9"/>
          <p:cNvSpPr/>
          <p:nvPr/>
        </p:nvSpPr>
        <p:spPr>
          <a:xfrm>
            <a:off x="8209717" y="3156466"/>
            <a:ext cx="5634514" cy="317540"/>
          </a:xfrm>
          <a:prstGeom prst="rect">
            <a:avLst/>
          </a:prstGeom>
          <a:noFill/>
          <a:ln/>
        </p:spPr>
        <p:txBody>
          <a:bodyPr wrap="none" lIns="0" tIns="0" rIns="0" bIns="0" rtlCol="0" anchor="t"/>
          <a:lstStyle/>
          <a:p>
            <a:pPr marL="0" indent="0" algn="l">
              <a:lnSpc>
                <a:spcPts val="2500"/>
              </a:lnSpc>
              <a:buNone/>
            </a:pPr>
            <a:r>
              <a:rPr lang="en-US" sz="1550" dirty="0">
                <a:solidFill>
                  <a:srgbClr val="BDA189"/>
                </a:solidFill>
                <a:latin typeface="Manrope" pitchFamily="34" charset="0"/>
                <a:ea typeface="Manrope" pitchFamily="34" charset="-122"/>
                <a:cs typeface="Manrope" pitchFamily="34" charset="-120"/>
              </a:rPr>
              <a:t>ESP32 microcontroller + DHT11 + PIR sensor + relay modules</a:t>
            </a:r>
            <a:endParaRPr lang="en-US" sz="1550" dirty="0"/>
          </a:p>
        </p:txBody>
      </p:sp>
      <p:pic>
        <p:nvPicPr>
          <p:cNvPr id="13"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639288" y="3876913"/>
            <a:ext cx="297656" cy="297656"/>
          </a:xfrm>
          <a:prstGeom prst="rect">
            <a:avLst/>
          </a:prstGeom>
        </p:spPr>
      </p:pic>
      <p:sp>
        <p:nvSpPr>
          <p:cNvPr id="14" name="Text 10"/>
          <p:cNvSpPr/>
          <p:nvPr/>
        </p:nvSpPr>
        <p:spPr>
          <a:xfrm>
            <a:off x="8209717" y="3870841"/>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BDA189"/>
                </a:solidFill>
                <a:latin typeface="Prata" pitchFamily="34" charset="0"/>
                <a:ea typeface="Prata" pitchFamily="34" charset="-122"/>
                <a:cs typeface="Prata" pitchFamily="34" charset="-120"/>
              </a:rPr>
              <a:t>Firmware Layer</a:t>
            </a:r>
            <a:endParaRPr lang="en-US" sz="1950" dirty="0"/>
          </a:p>
        </p:txBody>
      </p:sp>
      <p:sp>
        <p:nvSpPr>
          <p:cNvPr id="15" name="Text 11"/>
          <p:cNvSpPr/>
          <p:nvPr/>
        </p:nvSpPr>
        <p:spPr>
          <a:xfrm>
            <a:off x="8209717" y="4379357"/>
            <a:ext cx="5634514" cy="635079"/>
          </a:xfrm>
          <a:prstGeom prst="rect">
            <a:avLst/>
          </a:prstGeom>
          <a:noFill/>
          <a:ln/>
        </p:spPr>
        <p:txBody>
          <a:bodyPr wrap="square" lIns="0" tIns="0" rIns="0" bIns="0" rtlCol="0" anchor="t"/>
          <a:lstStyle/>
          <a:p>
            <a:pPr marL="0" indent="0" algn="l">
              <a:lnSpc>
                <a:spcPts val="2500"/>
              </a:lnSpc>
              <a:buNone/>
            </a:pPr>
            <a:r>
              <a:rPr lang="en-US" sz="1550" dirty="0">
                <a:solidFill>
                  <a:srgbClr val="BDA189"/>
                </a:solidFill>
                <a:latin typeface="Manrope" pitchFamily="34" charset="0"/>
                <a:ea typeface="Manrope" pitchFamily="34" charset="-122"/>
                <a:cs typeface="Manrope" pitchFamily="34" charset="-120"/>
              </a:rPr>
              <a:t>Arduino-based logic for sensing, control, and data transmission</a:t>
            </a:r>
            <a:endParaRPr lang="en-US" sz="1550" dirty="0"/>
          </a:p>
        </p:txBody>
      </p:sp>
      <p:pic>
        <p:nvPicPr>
          <p:cNvPr id="16" name="Image 2"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639288" y="5417344"/>
            <a:ext cx="297656" cy="297656"/>
          </a:xfrm>
          <a:prstGeom prst="rect">
            <a:avLst/>
          </a:prstGeom>
        </p:spPr>
      </p:pic>
      <p:sp>
        <p:nvSpPr>
          <p:cNvPr id="17" name="Text 12"/>
          <p:cNvSpPr/>
          <p:nvPr/>
        </p:nvSpPr>
        <p:spPr>
          <a:xfrm>
            <a:off x="8209717" y="5411272"/>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BDA189"/>
                </a:solidFill>
                <a:latin typeface="Prata" pitchFamily="34" charset="0"/>
                <a:ea typeface="Prata" pitchFamily="34" charset="-122"/>
                <a:cs typeface="Prata" pitchFamily="34" charset="-120"/>
              </a:rPr>
              <a:t>Backend API</a:t>
            </a:r>
            <a:endParaRPr lang="en-US" sz="1950" dirty="0"/>
          </a:p>
        </p:txBody>
      </p:sp>
      <p:sp>
        <p:nvSpPr>
          <p:cNvPr id="18" name="Text 13"/>
          <p:cNvSpPr/>
          <p:nvPr/>
        </p:nvSpPr>
        <p:spPr>
          <a:xfrm>
            <a:off x="8209717" y="5919788"/>
            <a:ext cx="5634514" cy="317540"/>
          </a:xfrm>
          <a:prstGeom prst="rect">
            <a:avLst/>
          </a:prstGeom>
          <a:noFill/>
          <a:ln/>
        </p:spPr>
        <p:txBody>
          <a:bodyPr wrap="none" lIns="0" tIns="0" rIns="0" bIns="0" rtlCol="0" anchor="t"/>
          <a:lstStyle/>
          <a:p>
            <a:pPr marL="0" indent="0" algn="l">
              <a:lnSpc>
                <a:spcPts val="2500"/>
              </a:lnSpc>
              <a:buNone/>
            </a:pPr>
            <a:r>
              <a:rPr lang="en-US" sz="1550" dirty="0">
                <a:solidFill>
                  <a:srgbClr val="BDA189"/>
                </a:solidFill>
                <a:latin typeface="Manrope" pitchFamily="34" charset="0"/>
                <a:ea typeface="Manrope" pitchFamily="34" charset="-122"/>
                <a:cs typeface="Manrope" pitchFamily="34" charset="-120"/>
              </a:rPr>
              <a:t>Flask (Python) + SQLite + JWT authentication</a:t>
            </a:r>
            <a:endParaRPr lang="en-US" sz="1550" dirty="0"/>
          </a:p>
        </p:txBody>
      </p:sp>
      <p:pic>
        <p:nvPicPr>
          <p:cNvPr id="19" name="Image 3"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639288" y="6640235"/>
            <a:ext cx="297656" cy="297656"/>
          </a:xfrm>
          <a:prstGeom prst="rect">
            <a:avLst/>
          </a:prstGeom>
        </p:spPr>
      </p:pic>
      <p:sp>
        <p:nvSpPr>
          <p:cNvPr id="20" name="Text 14"/>
          <p:cNvSpPr/>
          <p:nvPr/>
        </p:nvSpPr>
        <p:spPr>
          <a:xfrm>
            <a:off x="8209717" y="6634162"/>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BDA189"/>
                </a:solidFill>
                <a:latin typeface="Prata" pitchFamily="34" charset="0"/>
                <a:ea typeface="Prata" pitchFamily="34" charset="-122"/>
                <a:cs typeface="Prata" pitchFamily="34" charset="-120"/>
              </a:rPr>
              <a:t>Frontend UI</a:t>
            </a:r>
            <a:endParaRPr lang="en-US" sz="1950" dirty="0"/>
          </a:p>
        </p:txBody>
      </p:sp>
      <p:sp>
        <p:nvSpPr>
          <p:cNvPr id="21" name="Text 15"/>
          <p:cNvSpPr/>
          <p:nvPr/>
        </p:nvSpPr>
        <p:spPr>
          <a:xfrm>
            <a:off x="8209717" y="7142678"/>
            <a:ext cx="5634514" cy="317540"/>
          </a:xfrm>
          <a:prstGeom prst="rect">
            <a:avLst/>
          </a:prstGeom>
          <a:noFill/>
          <a:ln/>
        </p:spPr>
        <p:txBody>
          <a:bodyPr wrap="none" lIns="0" tIns="0" rIns="0" bIns="0" rtlCol="0" anchor="t"/>
          <a:lstStyle/>
          <a:p>
            <a:pPr marL="0" indent="0" algn="l">
              <a:lnSpc>
                <a:spcPts val="2500"/>
              </a:lnSpc>
              <a:buNone/>
            </a:pPr>
            <a:r>
              <a:rPr lang="en-US" sz="1550" dirty="0">
                <a:solidFill>
                  <a:srgbClr val="BDA189"/>
                </a:solidFill>
                <a:latin typeface="Manrope" pitchFamily="34" charset="0"/>
                <a:ea typeface="Manrope" pitchFamily="34" charset="-122"/>
                <a:cs typeface="Manrope" pitchFamily="34" charset="-120"/>
              </a:rPr>
              <a:t>React + Vite + Chart.js role-based dashboard</a:t>
            </a:r>
            <a:endParaRPr lang="en-US" sz="1550" dirty="0"/>
          </a:p>
        </p:txBody>
      </p:sp>
      <p:pic>
        <p:nvPicPr>
          <p:cNvPr id="22" name="Picture 21"/>
          <p:cNvPicPr>
            <a:picLocks noChangeAspect="1"/>
          </p:cNvPicPr>
          <p:nvPr/>
        </p:nvPicPr>
        <p:blipFill>
          <a:blip r:embed="rId4"/>
          <a:stretch>
            <a:fillRect/>
          </a:stretch>
        </p:blipFill>
        <p:spPr>
          <a:xfrm>
            <a:off x="12191660" y="7773449"/>
            <a:ext cx="2438740" cy="371527"/>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793790" y="588169"/>
            <a:ext cx="1077635" cy="373142"/>
          </a:xfrm>
          <a:prstGeom prst="roundRect">
            <a:avLst>
              <a:gd name="adj" fmla="val 6383"/>
            </a:avLst>
          </a:prstGeom>
          <a:solidFill>
            <a:srgbClr val="391F13"/>
          </a:solidFill>
          <a:ln/>
        </p:spPr>
        <p:txBody>
          <a:bodyPr/>
          <a:lstStyle/>
          <a:p>
            <a:endParaRPr lang="en-IN"/>
          </a:p>
        </p:txBody>
      </p:sp>
      <p:sp>
        <p:nvSpPr>
          <p:cNvPr id="3" name="Text 1"/>
          <p:cNvSpPr/>
          <p:nvPr/>
        </p:nvSpPr>
        <p:spPr>
          <a:xfrm>
            <a:off x="912852" y="647700"/>
            <a:ext cx="839510" cy="254079"/>
          </a:xfrm>
          <a:prstGeom prst="rect">
            <a:avLst/>
          </a:prstGeom>
          <a:noFill/>
          <a:ln/>
        </p:spPr>
        <p:txBody>
          <a:bodyPr wrap="none" lIns="0" tIns="0" rIns="0" bIns="0" rtlCol="0" anchor="t"/>
          <a:lstStyle/>
          <a:p>
            <a:pPr marL="0" indent="0" algn="l">
              <a:lnSpc>
                <a:spcPts val="2000"/>
              </a:lnSpc>
              <a:buNone/>
            </a:pPr>
            <a:r>
              <a:rPr lang="en-US" sz="1250" dirty="0">
                <a:solidFill>
                  <a:srgbClr val="BDA189"/>
                </a:solidFill>
                <a:latin typeface="Manrope" pitchFamily="34" charset="0"/>
                <a:ea typeface="Manrope" pitchFamily="34" charset="-122"/>
                <a:cs typeface="Manrope" pitchFamily="34" charset="-120"/>
              </a:rPr>
              <a:t>HARDWARE</a:t>
            </a:r>
            <a:endParaRPr lang="en-US" sz="1250" dirty="0"/>
          </a:p>
        </p:txBody>
      </p:sp>
      <p:sp>
        <p:nvSpPr>
          <p:cNvPr id="4" name="Text 2"/>
          <p:cNvSpPr/>
          <p:nvPr/>
        </p:nvSpPr>
        <p:spPr>
          <a:xfrm>
            <a:off x="793790" y="1040606"/>
            <a:ext cx="4961811" cy="620078"/>
          </a:xfrm>
          <a:prstGeom prst="rect">
            <a:avLst/>
          </a:prstGeom>
          <a:noFill/>
          <a:ln/>
        </p:spPr>
        <p:txBody>
          <a:bodyPr wrap="none" lIns="0" tIns="0" rIns="0" bIns="0" rtlCol="0" anchor="t"/>
          <a:lstStyle/>
          <a:p>
            <a:pPr marL="0" indent="0" algn="l">
              <a:lnSpc>
                <a:spcPts val="4850"/>
              </a:lnSpc>
              <a:buNone/>
            </a:pPr>
            <a:r>
              <a:rPr lang="en-US" sz="3900" dirty="0">
                <a:solidFill>
                  <a:srgbClr val="F2D4BA"/>
                </a:solidFill>
                <a:latin typeface="Prata" pitchFamily="34" charset="0"/>
                <a:ea typeface="Prata" pitchFamily="34" charset="-122"/>
                <a:cs typeface="Prata" pitchFamily="34" charset="-120"/>
              </a:rPr>
              <a:t>Hardware Setup</a:t>
            </a:r>
            <a:endParaRPr lang="en-US" sz="3900" dirty="0"/>
          </a:p>
        </p:txBody>
      </p:sp>
      <p:sp>
        <p:nvSpPr>
          <p:cNvPr id="5" name="Text 3"/>
          <p:cNvSpPr/>
          <p:nvPr/>
        </p:nvSpPr>
        <p:spPr>
          <a:xfrm>
            <a:off x="793790" y="1958340"/>
            <a:ext cx="13042821" cy="635079"/>
          </a:xfrm>
          <a:prstGeom prst="rect">
            <a:avLst/>
          </a:prstGeom>
          <a:noFill/>
          <a:ln/>
        </p:spPr>
        <p:txBody>
          <a:bodyPr wrap="square" lIns="0" tIns="0" rIns="0" bIns="0" rtlCol="0" anchor="t"/>
          <a:lstStyle/>
          <a:p>
            <a:pPr marL="0" indent="0" algn="l">
              <a:lnSpc>
                <a:spcPts val="2500"/>
              </a:lnSpc>
              <a:buNone/>
            </a:pPr>
            <a:r>
              <a:rPr lang="en-US" sz="1550" dirty="0">
                <a:solidFill>
                  <a:srgbClr val="BDA189"/>
                </a:solidFill>
                <a:latin typeface="Manrope" pitchFamily="34" charset="0"/>
                <a:ea typeface="Manrope" pitchFamily="34" charset="-122"/>
                <a:cs typeface="Manrope" pitchFamily="34" charset="-120"/>
              </a:rPr>
              <a:t>The physical layer of the system uses affordable, widely available components connected to the ESP32 — a powerful, WiFi-enabled microcontroller that serves as the brain of the entire operation.</a:t>
            </a:r>
            <a:endParaRPr lang="en-US" sz="1550" dirty="0"/>
          </a:p>
        </p:txBody>
      </p:sp>
      <p:sp>
        <p:nvSpPr>
          <p:cNvPr id="6" name="Shape 4"/>
          <p:cNvSpPr/>
          <p:nvPr/>
        </p:nvSpPr>
        <p:spPr>
          <a:xfrm>
            <a:off x="793790" y="2816662"/>
            <a:ext cx="13042821" cy="3440668"/>
          </a:xfrm>
          <a:prstGeom prst="roundRect">
            <a:avLst>
              <a:gd name="adj" fmla="val 865"/>
            </a:avLst>
          </a:prstGeom>
          <a:noFill/>
          <a:ln w="7620">
            <a:solidFill>
              <a:srgbClr val="FFFFFF">
                <a:alpha val="24000"/>
              </a:srgbClr>
            </a:solidFill>
            <a:prstDash val="solid"/>
          </a:ln>
        </p:spPr>
        <p:txBody>
          <a:bodyPr/>
          <a:lstStyle/>
          <a:p>
            <a:endParaRPr lang="en-IN"/>
          </a:p>
        </p:txBody>
      </p:sp>
      <p:sp>
        <p:nvSpPr>
          <p:cNvPr id="7" name="Shape 5"/>
          <p:cNvSpPr/>
          <p:nvPr/>
        </p:nvSpPr>
        <p:spPr>
          <a:xfrm>
            <a:off x="801410" y="2824282"/>
            <a:ext cx="13027581" cy="570905"/>
          </a:xfrm>
          <a:prstGeom prst="rect">
            <a:avLst/>
          </a:prstGeom>
          <a:solidFill>
            <a:srgbClr val="FFFFFF">
              <a:alpha val="4000"/>
            </a:srgbClr>
          </a:solidFill>
          <a:ln/>
        </p:spPr>
        <p:txBody>
          <a:bodyPr/>
          <a:lstStyle/>
          <a:p>
            <a:endParaRPr lang="en-IN"/>
          </a:p>
        </p:txBody>
      </p:sp>
      <p:sp>
        <p:nvSpPr>
          <p:cNvPr id="8" name="Text 6"/>
          <p:cNvSpPr/>
          <p:nvPr/>
        </p:nvSpPr>
        <p:spPr>
          <a:xfrm>
            <a:off x="999887" y="2950964"/>
            <a:ext cx="4159091" cy="317540"/>
          </a:xfrm>
          <a:prstGeom prst="rect">
            <a:avLst/>
          </a:prstGeom>
          <a:noFill/>
          <a:ln/>
        </p:spPr>
        <p:txBody>
          <a:bodyPr wrap="none" lIns="0" tIns="0" rIns="0" bIns="0" rtlCol="0" anchor="t"/>
          <a:lstStyle/>
          <a:p>
            <a:pPr marL="0" indent="0" algn="l">
              <a:lnSpc>
                <a:spcPts val="2500"/>
              </a:lnSpc>
              <a:buNone/>
            </a:pPr>
            <a:r>
              <a:rPr lang="en-US" sz="1550" b="1" dirty="0">
                <a:solidFill>
                  <a:srgbClr val="BDA189"/>
                </a:solidFill>
                <a:latin typeface="Manrope" pitchFamily="34" charset="0"/>
                <a:ea typeface="Manrope" pitchFamily="34" charset="-122"/>
                <a:cs typeface="Manrope" pitchFamily="34" charset="-120"/>
              </a:rPr>
              <a:t>Component</a:t>
            </a:r>
            <a:endParaRPr lang="en-US" sz="1550" dirty="0"/>
          </a:p>
        </p:txBody>
      </p:sp>
      <p:sp>
        <p:nvSpPr>
          <p:cNvPr id="9" name="Text 7"/>
          <p:cNvSpPr/>
          <p:nvPr/>
        </p:nvSpPr>
        <p:spPr>
          <a:xfrm>
            <a:off x="5563314" y="2950964"/>
            <a:ext cx="8067318" cy="317540"/>
          </a:xfrm>
          <a:prstGeom prst="rect">
            <a:avLst/>
          </a:prstGeom>
          <a:noFill/>
          <a:ln/>
        </p:spPr>
        <p:txBody>
          <a:bodyPr wrap="none" lIns="0" tIns="0" rIns="0" bIns="0" rtlCol="0" anchor="t"/>
          <a:lstStyle/>
          <a:p>
            <a:pPr marL="0" indent="0" algn="l">
              <a:lnSpc>
                <a:spcPts val="2500"/>
              </a:lnSpc>
              <a:buNone/>
            </a:pPr>
            <a:r>
              <a:rPr lang="en-US" sz="1550" b="1" dirty="0">
                <a:solidFill>
                  <a:srgbClr val="BDA189"/>
                </a:solidFill>
                <a:latin typeface="Manrope" pitchFamily="34" charset="0"/>
                <a:ea typeface="Manrope" pitchFamily="34" charset="-122"/>
                <a:cs typeface="Manrope" pitchFamily="34" charset="-120"/>
              </a:rPr>
              <a:t>Role in the System</a:t>
            </a:r>
            <a:endParaRPr lang="en-US" sz="1550" dirty="0"/>
          </a:p>
        </p:txBody>
      </p:sp>
      <p:sp>
        <p:nvSpPr>
          <p:cNvPr id="10" name="Shape 8"/>
          <p:cNvSpPr/>
          <p:nvPr/>
        </p:nvSpPr>
        <p:spPr>
          <a:xfrm>
            <a:off x="801410" y="3395186"/>
            <a:ext cx="13027581" cy="570905"/>
          </a:xfrm>
          <a:prstGeom prst="rect">
            <a:avLst/>
          </a:prstGeom>
          <a:solidFill>
            <a:srgbClr val="000000">
              <a:alpha val="4000"/>
            </a:srgbClr>
          </a:solidFill>
          <a:ln/>
        </p:spPr>
        <p:txBody>
          <a:bodyPr/>
          <a:lstStyle/>
          <a:p>
            <a:endParaRPr lang="en-IN"/>
          </a:p>
        </p:txBody>
      </p:sp>
      <p:sp>
        <p:nvSpPr>
          <p:cNvPr id="11" name="Text 9"/>
          <p:cNvSpPr/>
          <p:nvPr/>
        </p:nvSpPr>
        <p:spPr>
          <a:xfrm>
            <a:off x="999887" y="3521869"/>
            <a:ext cx="4159091" cy="317540"/>
          </a:xfrm>
          <a:prstGeom prst="rect">
            <a:avLst/>
          </a:prstGeom>
          <a:noFill/>
          <a:ln/>
        </p:spPr>
        <p:txBody>
          <a:bodyPr wrap="none" lIns="0" tIns="0" rIns="0" bIns="0" rtlCol="0" anchor="t"/>
          <a:lstStyle/>
          <a:p>
            <a:pPr marL="0" indent="0" algn="l">
              <a:lnSpc>
                <a:spcPts val="2500"/>
              </a:lnSpc>
              <a:buNone/>
            </a:pPr>
            <a:r>
              <a:rPr lang="en-US" sz="1550" dirty="0">
                <a:solidFill>
                  <a:srgbClr val="BDA189"/>
                </a:solidFill>
                <a:latin typeface="Manrope" pitchFamily="34" charset="0"/>
                <a:ea typeface="Manrope" pitchFamily="34" charset="-122"/>
                <a:cs typeface="Manrope" pitchFamily="34" charset="-120"/>
              </a:rPr>
              <a:t>ESP32 Microcontroller</a:t>
            </a:r>
            <a:endParaRPr lang="en-US" sz="1550" dirty="0"/>
          </a:p>
        </p:txBody>
      </p:sp>
      <p:sp>
        <p:nvSpPr>
          <p:cNvPr id="12" name="Text 10"/>
          <p:cNvSpPr/>
          <p:nvPr/>
        </p:nvSpPr>
        <p:spPr>
          <a:xfrm>
            <a:off x="5563314" y="3521869"/>
            <a:ext cx="8067318" cy="317540"/>
          </a:xfrm>
          <a:prstGeom prst="rect">
            <a:avLst/>
          </a:prstGeom>
          <a:noFill/>
          <a:ln/>
        </p:spPr>
        <p:txBody>
          <a:bodyPr wrap="none" lIns="0" tIns="0" rIns="0" bIns="0" rtlCol="0" anchor="t"/>
          <a:lstStyle/>
          <a:p>
            <a:pPr marL="0" indent="0" algn="l">
              <a:lnSpc>
                <a:spcPts val="2500"/>
              </a:lnSpc>
              <a:buNone/>
            </a:pPr>
            <a:r>
              <a:rPr lang="en-US" sz="1550" dirty="0">
                <a:solidFill>
                  <a:srgbClr val="BDA189"/>
                </a:solidFill>
                <a:latin typeface="Manrope" pitchFamily="34" charset="0"/>
                <a:ea typeface="Manrope" pitchFamily="34" charset="-122"/>
                <a:cs typeface="Manrope" pitchFamily="34" charset="-120"/>
              </a:rPr>
              <a:t>WiFi-enabled brain — reads sensors, controls relays, sends HTTP data</a:t>
            </a:r>
            <a:endParaRPr lang="en-US" sz="1550" dirty="0"/>
          </a:p>
        </p:txBody>
      </p:sp>
      <p:sp>
        <p:nvSpPr>
          <p:cNvPr id="13" name="Shape 11"/>
          <p:cNvSpPr/>
          <p:nvPr/>
        </p:nvSpPr>
        <p:spPr>
          <a:xfrm>
            <a:off x="801410" y="3966091"/>
            <a:ext cx="13027581" cy="570905"/>
          </a:xfrm>
          <a:prstGeom prst="rect">
            <a:avLst/>
          </a:prstGeom>
          <a:solidFill>
            <a:srgbClr val="FFFFFF">
              <a:alpha val="4000"/>
            </a:srgbClr>
          </a:solidFill>
          <a:ln/>
        </p:spPr>
        <p:txBody>
          <a:bodyPr/>
          <a:lstStyle/>
          <a:p>
            <a:endParaRPr lang="en-IN"/>
          </a:p>
        </p:txBody>
      </p:sp>
      <p:sp>
        <p:nvSpPr>
          <p:cNvPr id="14" name="Text 12"/>
          <p:cNvSpPr/>
          <p:nvPr/>
        </p:nvSpPr>
        <p:spPr>
          <a:xfrm>
            <a:off x="999887" y="4092773"/>
            <a:ext cx="4159091" cy="317540"/>
          </a:xfrm>
          <a:prstGeom prst="rect">
            <a:avLst/>
          </a:prstGeom>
          <a:noFill/>
          <a:ln/>
        </p:spPr>
        <p:txBody>
          <a:bodyPr wrap="none" lIns="0" tIns="0" rIns="0" bIns="0" rtlCol="0" anchor="t"/>
          <a:lstStyle/>
          <a:p>
            <a:pPr marL="0" indent="0" algn="l">
              <a:lnSpc>
                <a:spcPts val="2500"/>
              </a:lnSpc>
              <a:buNone/>
            </a:pPr>
            <a:r>
              <a:rPr lang="en-US" sz="1550" dirty="0">
                <a:solidFill>
                  <a:srgbClr val="BDA189"/>
                </a:solidFill>
                <a:latin typeface="Manrope" pitchFamily="34" charset="0"/>
                <a:ea typeface="Manrope" pitchFamily="34" charset="-122"/>
                <a:cs typeface="Manrope" pitchFamily="34" charset="-120"/>
              </a:rPr>
              <a:t>DHT11 Sensor</a:t>
            </a:r>
            <a:endParaRPr lang="en-US" sz="1550" dirty="0"/>
          </a:p>
        </p:txBody>
      </p:sp>
      <p:sp>
        <p:nvSpPr>
          <p:cNvPr id="15" name="Text 13"/>
          <p:cNvSpPr/>
          <p:nvPr/>
        </p:nvSpPr>
        <p:spPr>
          <a:xfrm>
            <a:off x="5563314" y="4092773"/>
            <a:ext cx="8067318" cy="317540"/>
          </a:xfrm>
          <a:prstGeom prst="rect">
            <a:avLst/>
          </a:prstGeom>
          <a:noFill/>
          <a:ln/>
        </p:spPr>
        <p:txBody>
          <a:bodyPr wrap="none" lIns="0" tIns="0" rIns="0" bIns="0" rtlCol="0" anchor="t"/>
          <a:lstStyle/>
          <a:p>
            <a:pPr marL="0" indent="0" algn="l">
              <a:lnSpc>
                <a:spcPts val="2500"/>
              </a:lnSpc>
              <a:buNone/>
            </a:pPr>
            <a:r>
              <a:rPr lang="en-US" sz="1550" dirty="0">
                <a:solidFill>
                  <a:srgbClr val="BDA189"/>
                </a:solidFill>
                <a:latin typeface="Manrope" pitchFamily="34" charset="0"/>
                <a:ea typeface="Manrope" pitchFamily="34" charset="-122"/>
                <a:cs typeface="Manrope" pitchFamily="34" charset="-120"/>
              </a:rPr>
              <a:t>Reads ambient temperature and humidity every 5 seconds</a:t>
            </a:r>
            <a:endParaRPr lang="en-US" sz="1550" dirty="0"/>
          </a:p>
        </p:txBody>
      </p:sp>
      <p:sp>
        <p:nvSpPr>
          <p:cNvPr id="16" name="Shape 14"/>
          <p:cNvSpPr/>
          <p:nvPr/>
        </p:nvSpPr>
        <p:spPr>
          <a:xfrm>
            <a:off x="801410" y="4536996"/>
            <a:ext cx="13027581" cy="570905"/>
          </a:xfrm>
          <a:prstGeom prst="rect">
            <a:avLst/>
          </a:prstGeom>
          <a:solidFill>
            <a:srgbClr val="000000">
              <a:alpha val="4000"/>
            </a:srgbClr>
          </a:solidFill>
          <a:ln/>
        </p:spPr>
        <p:txBody>
          <a:bodyPr/>
          <a:lstStyle/>
          <a:p>
            <a:endParaRPr lang="en-IN"/>
          </a:p>
        </p:txBody>
      </p:sp>
      <p:sp>
        <p:nvSpPr>
          <p:cNvPr id="17" name="Text 15"/>
          <p:cNvSpPr/>
          <p:nvPr/>
        </p:nvSpPr>
        <p:spPr>
          <a:xfrm>
            <a:off x="999887" y="4663678"/>
            <a:ext cx="4159091" cy="317540"/>
          </a:xfrm>
          <a:prstGeom prst="rect">
            <a:avLst/>
          </a:prstGeom>
          <a:noFill/>
          <a:ln/>
        </p:spPr>
        <p:txBody>
          <a:bodyPr wrap="none" lIns="0" tIns="0" rIns="0" bIns="0" rtlCol="0" anchor="t"/>
          <a:lstStyle/>
          <a:p>
            <a:pPr marL="0" indent="0" algn="l">
              <a:lnSpc>
                <a:spcPts val="2500"/>
              </a:lnSpc>
              <a:buNone/>
            </a:pPr>
            <a:r>
              <a:rPr lang="en-US" sz="1550" dirty="0">
                <a:solidFill>
                  <a:srgbClr val="BDA189"/>
                </a:solidFill>
                <a:latin typeface="Manrope" pitchFamily="34" charset="0"/>
                <a:ea typeface="Manrope" pitchFamily="34" charset="-122"/>
                <a:cs typeface="Manrope" pitchFamily="34" charset="-120"/>
              </a:rPr>
              <a:t>PIR Motion Sensor</a:t>
            </a:r>
            <a:endParaRPr lang="en-US" sz="1550" dirty="0"/>
          </a:p>
        </p:txBody>
      </p:sp>
      <p:sp>
        <p:nvSpPr>
          <p:cNvPr id="18" name="Text 16"/>
          <p:cNvSpPr/>
          <p:nvPr/>
        </p:nvSpPr>
        <p:spPr>
          <a:xfrm>
            <a:off x="5563314" y="4663678"/>
            <a:ext cx="8067318" cy="317540"/>
          </a:xfrm>
          <a:prstGeom prst="rect">
            <a:avLst/>
          </a:prstGeom>
          <a:noFill/>
          <a:ln/>
        </p:spPr>
        <p:txBody>
          <a:bodyPr wrap="none" lIns="0" tIns="0" rIns="0" bIns="0" rtlCol="0" anchor="t"/>
          <a:lstStyle/>
          <a:p>
            <a:pPr marL="0" indent="0" algn="l">
              <a:lnSpc>
                <a:spcPts val="2500"/>
              </a:lnSpc>
              <a:buNone/>
            </a:pPr>
            <a:r>
              <a:rPr lang="en-US" sz="1550" dirty="0">
                <a:solidFill>
                  <a:srgbClr val="BDA189"/>
                </a:solidFill>
                <a:latin typeface="Manrope" pitchFamily="34" charset="0"/>
                <a:ea typeface="Manrope" pitchFamily="34" charset="-122"/>
                <a:cs typeface="Manrope" pitchFamily="34" charset="-120"/>
              </a:rPr>
              <a:t>Detects human presence and room occupancy in real time</a:t>
            </a:r>
            <a:endParaRPr lang="en-US" sz="1550" dirty="0"/>
          </a:p>
        </p:txBody>
      </p:sp>
      <p:sp>
        <p:nvSpPr>
          <p:cNvPr id="19" name="Shape 17"/>
          <p:cNvSpPr/>
          <p:nvPr/>
        </p:nvSpPr>
        <p:spPr>
          <a:xfrm>
            <a:off x="801410" y="5107900"/>
            <a:ext cx="13027581" cy="570905"/>
          </a:xfrm>
          <a:prstGeom prst="rect">
            <a:avLst/>
          </a:prstGeom>
          <a:solidFill>
            <a:srgbClr val="FFFFFF">
              <a:alpha val="4000"/>
            </a:srgbClr>
          </a:solidFill>
          <a:ln/>
        </p:spPr>
        <p:txBody>
          <a:bodyPr/>
          <a:lstStyle/>
          <a:p>
            <a:endParaRPr lang="en-IN"/>
          </a:p>
        </p:txBody>
      </p:sp>
      <p:sp>
        <p:nvSpPr>
          <p:cNvPr id="20" name="Text 18"/>
          <p:cNvSpPr/>
          <p:nvPr/>
        </p:nvSpPr>
        <p:spPr>
          <a:xfrm>
            <a:off x="999887" y="5234583"/>
            <a:ext cx="4159091" cy="317540"/>
          </a:xfrm>
          <a:prstGeom prst="rect">
            <a:avLst/>
          </a:prstGeom>
          <a:noFill/>
          <a:ln/>
        </p:spPr>
        <p:txBody>
          <a:bodyPr wrap="none" lIns="0" tIns="0" rIns="0" bIns="0" rtlCol="0" anchor="t"/>
          <a:lstStyle/>
          <a:p>
            <a:pPr marL="0" indent="0" algn="l">
              <a:lnSpc>
                <a:spcPts val="2500"/>
              </a:lnSpc>
              <a:buNone/>
            </a:pPr>
            <a:r>
              <a:rPr lang="en-US" sz="1550" dirty="0">
                <a:solidFill>
                  <a:srgbClr val="BDA189"/>
                </a:solidFill>
                <a:latin typeface="Manrope" pitchFamily="34" charset="0"/>
                <a:ea typeface="Manrope" pitchFamily="34" charset="-122"/>
                <a:cs typeface="Manrope" pitchFamily="34" charset="-120"/>
              </a:rPr>
              <a:t>Fan Relay (GPIO 13)</a:t>
            </a:r>
            <a:endParaRPr lang="en-US" sz="1550" dirty="0"/>
          </a:p>
        </p:txBody>
      </p:sp>
      <p:sp>
        <p:nvSpPr>
          <p:cNvPr id="21" name="Text 19"/>
          <p:cNvSpPr/>
          <p:nvPr/>
        </p:nvSpPr>
        <p:spPr>
          <a:xfrm>
            <a:off x="5563314" y="5234583"/>
            <a:ext cx="8067318" cy="317540"/>
          </a:xfrm>
          <a:prstGeom prst="rect">
            <a:avLst/>
          </a:prstGeom>
          <a:noFill/>
          <a:ln/>
        </p:spPr>
        <p:txBody>
          <a:bodyPr wrap="none" lIns="0" tIns="0" rIns="0" bIns="0" rtlCol="0" anchor="t"/>
          <a:lstStyle/>
          <a:p>
            <a:pPr marL="0" indent="0" algn="l">
              <a:lnSpc>
                <a:spcPts val="2500"/>
              </a:lnSpc>
              <a:buNone/>
            </a:pPr>
            <a:r>
              <a:rPr lang="en-US" sz="1550" dirty="0">
                <a:solidFill>
                  <a:srgbClr val="BDA189"/>
                </a:solidFill>
                <a:latin typeface="Manrope" pitchFamily="34" charset="0"/>
                <a:ea typeface="Manrope" pitchFamily="34" charset="-122"/>
                <a:cs typeface="Manrope" pitchFamily="34" charset="-120"/>
              </a:rPr>
              <a:t>Switches the fan ON/OFF based on firmware logic</a:t>
            </a:r>
            <a:endParaRPr lang="en-US" sz="1550" dirty="0"/>
          </a:p>
        </p:txBody>
      </p:sp>
      <p:sp>
        <p:nvSpPr>
          <p:cNvPr id="22" name="Shape 20"/>
          <p:cNvSpPr/>
          <p:nvPr/>
        </p:nvSpPr>
        <p:spPr>
          <a:xfrm>
            <a:off x="801410" y="5678805"/>
            <a:ext cx="13027581" cy="570905"/>
          </a:xfrm>
          <a:prstGeom prst="rect">
            <a:avLst/>
          </a:prstGeom>
          <a:solidFill>
            <a:srgbClr val="000000">
              <a:alpha val="4000"/>
            </a:srgbClr>
          </a:solidFill>
          <a:ln/>
        </p:spPr>
        <p:txBody>
          <a:bodyPr/>
          <a:lstStyle/>
          <a:p>
            <a:endParaRPr lang="en-IN"/>
          </a:p>
        </p:txBody>
      </p:sp>
      <p:sp>
        <p:nvSpPr>
          <p:cNvPr id="23" name="Text 21"/>
          <p:cNvSpPr/>
          <p:nvPr/>
        </p:nvSpPr>
        <p:spPr>
          <a:xfrm>
            <a:off x="999887" y="5805488"/>
            <a:ext cx="4159091" cy="317540"/>
          </a:xfrm>
          <a:prstGeom prst="rect">
            <a:avLst/>
          </a:prstGeom>
          <a:noFill/>
          <a:ln/>
        </p:spPr>
        <p:txBody>
          <a:bodyPr wrap="none" lIns="0" tIns="0" rIns="0" bIns="0" rtlCol="0" anchor="t"/>
          <a:lstStyle/>
          <a:p>
            <a:pPr marL="0" indent="0" algn="l">
              <a:lnSpc>
                <a:spcPts val="2500"/>
              </a:lnSpc>
              <a:buNone/>
            </a:pPr>
            <a:r>
              <a:rPr lang="en-US" sz="1550" dirty="0">
                <a:solidFill>
                  <a:srgbClr val="BDA189"/>
                </a:solidFill>
                <a:latin typeface="Manrope" pitchFamily="34" charset="0"/>
                <a:ea typeface="Manrope" pitchFamily="34" charset="-122"/>
                <a:cs typeface="Manrope" pitchFamily="34" charset="-120"/>
              </a:rPr>
              <a:t>Light Relay (GPIO 12)</a:t>
            </a:r>
            <a:endParaRPr lang="en-US" sz="1550" dirty="0"/>
          </a:p>
        </p:txBody>
      </p:sp>
      <p:sp>
        <p:nvSpPr>
          <p:cNvPr id="24" name="Text 22"/>
          <p:cNvSpPr/>
          <p:nvPr/>
        </p:nvSpPr>
        <p:spPr>
          <a:xfrm>
            <a:off x="5563314" y="5805488"/>
            <a:ext cx="8067318" cy="317540"/>
          </a:xfrm>
          <a:prstGeom prst="rect">
            <a:avLst/>
          </a:prstGeom>
          <a:noFill/>
          <a:ln/>
        </p:spPr>
        <p:txBody>
          <a:bodyPr wrap="none" lIns="0" tIns="0" rIns="0" bIns="0" rtlCol="0" anchor="t"/>
          <a:lstStyle/>
          <a:p>
            <a:pPr marL="0" indent="0" algn="l">
              <a:lnSpc>
                <a:spcPts val="2500"/>
              </a:lnSpc>
              <a:buNone/>
            </a:pPr>
            <a:r>
              <a:rPr lang="en-US" sz="1550" dirty="0">
                <a:solidFill>
                  <a:srgbClr val="BDA189"/>
                </a:solidFill>
                <a:latin typeface="Manrope" pitchFamily="34" charset="0"/>
                <a:ea typeface="Manrope" pitchFamily="34" charset="-122"/>
                <a:cs typeface="Manrope" pitchFamily="34" charset="-120"/>
              </a:rPr>
              <a:t>Switches the light ON/OFF based on motion detection</a:t>
            </a:r>
            <a:endParaRPr lang="en-US" sz="1550" dirty="0"/>
          </a:p>
        </p:txBody>
      </p:sp>
      <p:sp>
        <p:nvSpPr>
          <p:cNvPr id="25" name="Shape 23"/>
          <p:cNvSpPr/>
          <p:nvPr/>
        </p:nvSpPr>
        <p:spPr>
          <a:xfrm>
            <a:off x="793790" y="6480572"/>
            <a:ext cx="13042821" cy="1160740"/>
          </a:xfrm>
          <a:prstGeom prst="roundRect">
            <a:avLst>
              <a:gd name="adj" fmla="val 2565"/>
            </a:avLst>
          </a:prstGeom>
          <a:solidFill>
            <a:srgbClr val="391F13"/>
          </a:solidFill>
          <a:ln/>
        </p:spPr>
        <p:txBody>
          <a:bodyPr/>
          <a:lstStyle/>
          <a:p>
            <a:endParaRPr lang="en-IN"/>
          </a:p>
        </p:txBody>
      </p:sp>
      <p:pic>
        <p:nvPicPr>
          <p:cNvPr id="26" name="Image 0" descr="preencoded.png"/>
          <p:cNvPicPr>
            <a:picLocks noChangeAspect="1"/>
          </p:cNvPicPr>
          <p:nvPr/>
        </p:nvPicPr>
        <p:blipFill>
          <a:blip r:embed="rId3"/>
          <a:stretch>
            <a:fillRect/>
          </a:stretch>
        </p:blipFill>
        <p:spPr>
          <a:xfrm>
            <a:off x="992148" y="6783467"/>
            <a:ext cx="248007" cy="198358"/>
          </a:xfrm>
          <a:prstGeom prst="rect">
            <a:avLst/>
          </a:prstGeom>
        </p:spPr>
      </p:pic>
      <p:sp>
        <p:nvSpPr>
          <p:cNvPr id="27" name="Text 24"/>
          <p:cNvSpPr/>
          <p:nvPr/>
        </p:nvSpPr>
        <p:spPr>
          <a:xfrm>
            <a:off x="1438513" y="6728460"/>
            <a:ext cx="12199739" cy="635079"/>
          </a:xfrm>
          <a:prstGeom prst="rect">
            <a:avLst/>
          </a:prstGeom>
          <a:noFill/>
          <a:ln/>
        </p:spPr>
        <p:txBody>
          <a:bodyPr wrap="square" lIns="0" tIns="0" rIns="0" bIns="0" rtlCol="0" anchor="t"/>
          <a:lstStyle/>
          <a:p>
            <a:pPr marL="0" indent="0" algn="l">
              <a:lnSpc>
                <a:spcPts val="2500"/>
              </a:lnSpc>
              <a:buNone/>
            </a:pPr>
            <a:r>
              <a:rPr lang="en-US" sz="1550" dirty="0">
                <a:solidFill>
                  <a:srgbClr val="FFFFFF"/>
                </a:solidFill>
                <a:latin typeface="Manrope" pitchFamily="34" charset="0"/>
                <a:ea typeface="Manrope" pitchFamily="34" charset="-122"/>
                <a:cs typeface="Manrope" pitchFamily="34" charset="-120"/>
              </a:rPr>
              <a:t>All components operate at low voltage and are safe for indoor prototyping. The ESP32 handles both sensor reading and WiFi communication simultaneously.</a:t>
            </a:r>
            <a:endParaRPr lang="en-US" sz="1550" dirty="0"/>
          </a:p>
        </p:txBody>
      </p:sp>
      <p:pic>
        <p:nvPicPr>
          <p:cNvPr id="28" name="Picture 27"/>
          <p:cNvPicPr>
            <a:picLocks noChangeAspect="1"/>
          </p:cNvPicPr>
          <p:nvPr/>
        </p:nvPicPr>
        <p:blipFill>
          <a:blip r:embed="rId4"/>
          <a:stretch>
            <a:fillRect/>
          </a:stretch>
        </p:blipFill>
        <p:spPr>
          <a:xfrm>
            <a:off x="12191660" y="7771009"/>
            <a:ext cx="2438740" cy="371527"/>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1446014" y="491728"/>
            <a:ext cx="1040249" cy="255984"/>
          </a:xfrm>
          <a:prstGeom prst="roundRect">
            <a:avLst>
              <a:gd name="adj" fmla="val 6978"/>
            </a:avLst>
          </a:prstGeom>
          <a:solidFill>
            <a:srgbClr val="391F13"/>
          </a:solidFill>
          <a:ln/>
        </p:spPr>
        <p:txBody>
          <a:bodyPr/>
          <a:lstStyle/>
          <a:p>
            <a:endParaRPr lang="en-IN"/>
          </a:p>
        </p:txBody>
      </p:sp>
      <p:sp>
        <p:nvSpPr>
          <p:cNvPr id="3" name="Text 1"/>
          <p:cNvSpPr/>
          <p:nvPr/>
        </p:nvSpPr>
        <p:spPr>
          <a:xfrm>
            <a:off x="1535311" y="536377"/>
            <a:ext cx="861655" cy="166688"/>
          </a:xfrm>
          <a:prstGeom prst="rect">
            <a:avLst/>
          </a:prstGeom>
          <a:noFill/>
          <a:ln/>
        </p:spPr>
        <p:txBody>
          <a:bodyPr wrap="none" lIns="0" tIns="0" rIns="0" bIns="0" rtlCol="0" anchor="t"/>
          <a:lstStyle/>
          <a:p>
            <a:pPr marL="0" indent="0" algn="l">
              <a:lnSpc>
                <a:spcPts val="1300"/>
              </a:lnSpc>
              <a:buNone/>
            </a:pPr>
            <a:r>
              <a:rPr lang="en-US" sz="900" dirty="0">
                <a:solidFill>
                  <a:srgbClr val="BDA189"/>
                </a:solidFill>
                <a:latin typeface="Manrope" pitchFamily="34" charset="0"/>
                <a:ea typeface="Manrope" pitchFamily="34" charset="-122"/>
                <a:cs typeface="Manrope" pitchFamily="34" charset="-120"/>
              </a:rPr>
              <a:t>ARCHITECTURE</a:t>
            </a:r>
            <a:endParaRPr lang="en-US" sz="900" dirty="0"/>
          </a:p>
        </p:txBody>
      </p:sp>
      <p:sp>
        <p:nvSpPr>
          <p:cNvPr id="4" name="Text 2"/>
          <p:cNvSpPr/>
          <p:nvPr/>
        </p:nvSpPr>
        <p:spPr>
          <a:xfrm>
            <a:off x="1446014" y="792361"/>
            <a:ext cx="3721298" cy="465177"/>
          </a:xfrm>
          <a:prstGeom prst="rect">
            <a:avLst/>
          </a:prstGeom>
          <a:noFill/>
          <a:ln/>
        </p:spPr>
        <p:txBody>
          <a:bodyPr wrap="none" lIns="0" tIns="0" rIns="0" bIns="0" rtlCol="0" anchor="t"/>
          <a:lstStyle/>
          <a:p>
            <a:pPr marL="0" indent="0" algn="l">
              <a:lnSpc>
                <a:spcPts val="3650"/>
              </a:lnSpc>
              <a:buNone/>
            </a:pPr>
            <a:r>
              <a:rPr lang="en-US" sz="2900" dirty="0">
                <a:solidFill>
                  <a:srgbClr val="F2D4BA"/>
                </a:solidFill>
                <a:latin typeface="Prata" pitchFamily="34" charset="0"/>
                <a:ea typeface="Prata" pitchFamily="34" charset="-122"/>
                <a:cs typeface="Prata" pitchFamily="34" charset="-120"/>
              </a:rPr>
              <a:t>How It All Connects</a:t>
            </a:r>
            <a:endParaRPr lang="en-US" sz="2900" dirty="0"/>
          </a:p>
        </p:txBody>
      </p:sp>
      <p:sp>
        <p:nvSpPr>
          <p:cNvPr id="5" name="Text 3"/>
          <p:cNvSpPr/>
          <p:nvPr/>
        </p:nvSpPr>
        <p:spPr>
          <a:xfrm>
            <a:off x="1446014" y="1424940"/>
            <a:ext cx="11738253" cy="625078"/>
          </a:xfrm>
          <a:prstGeom prst="rect">
            <a:avLst/>
          </a:prstGeom>
          <a:noFill/>
          <a:ln/>
        </p:spPr>
        <p:txBody>
          <a:bodyPr wrap="square" lIns="0" tIns="0" rIns="0" bIns="0" rtlCol="0" anchor="t"/>
          <a:lstStyle/>
          <a:p>
            <a:pPr marL="0" indent="0" algn="l">
              <a:lnSpc>
                <a:spcPts val="1600"/>
              </a:lnSpc>
              <a:buNone/>
            </a:pPr>
            <a:r>
              <a:rPr lang="en-US" sz="1150" dirty="0">
                <a:solidFill>
                  <a:srgbClr val="BDA189"/>
                </a:solidFill>
                <a:latin typeface="Manrope" pitchFamily="34" charset="0"/>
                <a:ea typeface="Manrope" pitchFamily="34" charset="-122"/>
                <a:cs typeface="Manrope" pitchFamily="34" charset="-120"/>
              </a:rPr>
              <a:t>Data flows seamlessly from physical sensors to a cloud-hosted dashboard. The ESP32 polls the DHT11 and PIR sensor every 5 seconds, packages the readings into a JSON payload, and transmits it via HTTP POST to both a local Node.js server and Google Sheets simultaneously. The Flask API then processes and stores this data, serving it to the React dashboard where live KPIs, alerts, and analytics are rendered in real time.</a:t>
            </a:r>
            <a:endParaRPr lang="en-US" sz="1150" dirty="0"/>
          </a:p>
        </p:txBody>
      </p:sp>
      <p:pic>
        <p:nvPicPr>
          <p:cNvPr id="6" name="Image 0" descr="preencoded.png"/>
          <p:cNvPicPr>
            <a:picLocks noChangeAspect="1"/>
          </p:cNvPicPr>
          <p:nvPr/>
        </p:nvPicPr>
        <p:blipFill>
          <a:blip r:embed="rId3"/>
          <a:stretch>
            <a:fillRect/>
          </a:stretch>
        </p:blipFill>
        <p:spPr>
          <a:xfrm>
            <a:off x="1494353" y="2175510"/>
            <a:ext cx="11641455" cy="5020032"/>
          </a:xfrm>
          <a:prstGeom prst="rect">
            <a:avLst/>
          </a:prstGeom>
        </p:spPr>
      </p:pic>
      <p:sp>
        <p:nvSpPr>
          <p:cNvPr id="7" name="Text 4"/>
          <p:cNvSpPr/>
          <p:nvPr/>
        </p:nvSpPr>
        <p:spPr>
          <a:xfrm>
            <a:off x="2277734" y="6243556"/>
            <a:ext cx="2641037" cy="330130"/>
          </a:xfrm>
          <a:prstGeom prst="rect">
            <a:avLst/>
          </a:prstGeom>
          <a:noFill/>
          <a:ln/>
        </p:spPr>
        <p:txBody>
          <a:bodyPr wrap="none" lIns="0" tIns="0" rIns="0" bIns="0" rtlCol="0" anchor="t"/>
          <a:lstStyle/>
          <a:p>
            <a:pPr marL="0" indent="0" algn="l">
              <a:lnSpc>
                <a:spcPts val="2550"/>
              </a:lnSpc>
              <a:buNone/>
            </a:pPr>
            <a:r>
              <a:rPr lang="en-US" sz="2050" dirty="0">
                <a:solidFill>
                  <a:srgbClr val="FFFFFF"/>
                </a:solidFill>
                <a:latin typeface="Prata" pitchFamily="34" charset="0"/>
                <a:ea typeface="Prata" pitchFamily="34" charset="-122"/>
                <a:cs typeface="Prata" pitchFamily="34" charset="-120"/>
              </a:rPr>
              <a:t>API &amp; Dashboard</a:t>
            </a:r>
            <a:endParaRPr lang="en-US" sz="2050" dirty="0"/>
          </a:p>
        </p:txBody>
      </p:sp>
      <p:sp>
        <p:nvSpPr>
          <p:cNvPr id="8" name="Text 5"/>
          <p:cNvSpPr/>
          <p:nvPr/>
        </p:nvSpPr>
        <p:spPr>
          <a:xfrm>
            <a:off x="2277734" y="5081500"/>
            <a:ext cx="2641037" cy="330130"/>
          </a:xfrm>
          <a:prstGeom prst="rect">
            <a:avLst/>
          </a:prstGeom>
          <a:noFill/>
          <a:ln/>
        </p:spPr>
        <p:txBody>
          <a:bodyPr wrap="none" lIns="0" tIns="0" rIns="0" bIns="0" rtlCol="0" anchor="t"/>
          <a:lstStyle/>
          <a:p>
            <a:pPr marL="0" indent="0" algn="l">
              <a:lnSpc>
                <a:spcPts val="2550"/>
              </a:lnSpc>
              <a:buNone/>
            </a:pPr>
            <a:r>
              <a:rPr lang="en-US" sz="2050" dirty="0">
                <a:solidFill>
                  <a:srgbClr val="FFFFFF"/>
                </a:solidFill>
                <a:latin typeface="Prata" pitchFamily="34" charset="0"/>
                <a:ea typeface="Prata" pitchFamily="34" charset="-122"/>
                <a:cs typeface="Prata" pitchFamily="34" charset="-120"/>
              </a:rPr>
              <a:t>Server &amp; Sheets</a:t>
            </a:r>
            <a:endParaRPr lang="en-US" sz="2050" dirty="0"/>
          </a:p>
        </p:txBody>
      </p:sp>
      <p:sp>
        <p:nvSpPr>
          <p:cNvPr id="9" name="Text 6"/>
          <p:cNvSpPr/>
          <p:nvPr/>
        </p:nvSpPr>
        <p:spPr>
          <a:xfrm>
            <a:off x="2277734" y="3931181"/>
            <a:ext cx="2641037" cy="330130"/>
          </a:xfrm>
          <a:prstGeom prst="rect">
            <a:avLst/>
          </a:prstGeom>
          <a:noFill/>
          <a:ln/>
        </p:spPr>
        <p:txBody>
          <a:bodyPr wrap="none" lIns="0" tIns="0" rIns="0" bIns="0" rtlCol="0" anchor="t"/>
          <a:lstStyle/>
          <a:p>
            <a:pPr marL="0" indent="0" algn="l">
              <a:lnSpc>
                <a:spcPts val="2550"/>
              </a:lnSpc>
              <a:buNone/>
            </a:pPr>
            <a:r>
              <a:rPr lang="en-US" sz="2050" dirty="0">
                <a:solidFill>
                  <a:srgbClr val="FFFFFF"/>
                </a:solidFill>
                <a:latin typeface="Prata" pitchFamily="34" charset="0"/>
                <a:ea typeface="Prata" pitchFamily="34" charset="-122"/>
                <a:cs typeface="Prata" pitchFamily="34" charset="-120"/>
              </a:rPr>
              <a:t>ESP32</a:t>
            </a:r>
            <a:endParaRPr lang="en-US" sz="2050" dirty="0"/>
          </a:p>
        </p:txBody>
      </p:sp>
      <p:sp>
        <p:nvSpPr>
          <p:cNvPr id="10" name="Text 7"/>
          <p:cNvSpPr/>
          <p:nvPr/>
        </p:nvSpPr>
        <p:spPr>
          <a:xfrm>
            <a:off x="2277734" y="2769125"/>
            <a:ext cx="2641037" cy="330130"/>
          </a:xfrm>
          <a:prstGeom prst="rect">
            <a:avLst/>
          </a:prstGeom>
          <a:noFill/>
          <a:ln/>
        </p:spPr>
        <p:txBody>
          <a:bodyPr wrap="none" lIns="0" tIns="0" rIns="0" bIns="0" rtlCol="0" anchor="t"/>
          <a:lstStyle/>
          <a:p>
            <a:pPr marL="0" indent="0" algn="l">
              <a:lnSpc>
                <a:spcPts val="2550"/>
              </a:lnSpc>
              <a:buNone/>
            </a:pPr>
            <a:r>
              <a:rPr lang="en-US" sz="2050" dirty="0">
                <a:solidFill>
                  <a:srgbClr val="FFFFFF"/>
                </a:solidFill>
                <a:latin typeface="Prata" pitchFamily="34" charset="0"/>
                <a:ea typeface="Prata" pitchFamily="34" charset="-122"/>
                <a:cs typeface="Prata" pitchFamily="34" charset="-120"/>
              </a:rPr>
              <a:t>Sensors</a:t>
            </a:r>
            <a:endParaRPr lang="en-US" sz="2050" dirty="0"/>
          </a:p>
        </p:txBody>
      </p:sp>
      <p:sp>
        <p:nvSpPr>
          <p:cNvPr id="11" name="Text 8"/>
          <p:cNvSpPr/>
          <p:nvPr/>
        </p:nvSpPr>
        <p:spPr>
          <a:xfrm>
            <a:off x="1446014" y="7321034"/>
            <a:ext cx="11738253" cy="416719"/>
          </a:xfrm>
          <a:prstGeom prst="rect">
            <a:avLst/>
          </a:prstGeom>
          <a:noFill/>
          <a:ln/>
        </p:spPr>
        <p:txBody>
          <a:bodyPr wrap="square" lIns="0" tIns="0" rIns="0" bIns="0" rtlCol="0" anchor="t"/>
          <a:lstStyle/>
          <a:p>
            <a:pPr marL="0" indent="0" algn="l">
              <a:lnSpc>
                <a:spcPts val="1600"/>
              </a:lnSpc>
              <a:buNone/>
            </a:pPr>
            <a:r>
              <a:rPr lang="en-US" sz="1150" dirty="0">
                <a:solidFill>
                  <a:srgbClr val="BDA189"/>
                </a:solidFill>
                <a:latin typeface="Manrope" pitchFamily="34" charset="0"/>
                <a:ea typeface="Manrope" pitchFamily="34" charset="-122"/>
                <a:cs typeface="Manrope" pitchFamily="34" charset="-120"/>
              </a:rPr>
              <a:t>This dual-path architecture ensures data redundancy — if one logging path fails, the other continues capturing readings. The result is a resilient pipeline from sensor to screen with sub-10-second latency.</a:t>
            </a:r>
            <a:endParaRPr lang="en-US" sz="1150" dirty="0"/>
          </a:p>
        </p:txBody>
      </p:sp>
      <p:pic>
        <p:nvPicPr>
          <p:cNvPr id="12" name="Picture 11"/>
          <p:cNvPicPr>
            <a:picLocks noChangeAspect="1"/>
          </p:cNvPicPr>
          <p:nvPr/>
        </p:nvPicPr>
        <p:blipFill>
          <a:blip r:embed="rId4"/>
          <a:stretch>
            <a:fillRect/>
          </a:stretch>
        </p:blipFill>
        <p:spPr>
          <a:xfrm>
            <a:off x="12191660" y="7737753"/>
            <a:ext cx="2438740" cy="371527"/>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793790" y="1271468"/>
            <a:ext cx="1503998" cy="373142"/>
          </a:xfrm>
          <a:prstGeom prst="roundRect">
            <a:avLst>
              <a:gd name="adj" fmla="val 6383"/>
            </a:avLst>
          </a:prstGeom>
          <a:solidFill>
            <a:srgbClr val="391F13"/>
          </a:solidFill>
          <a:ln/>
        </p:spPr>
        <p:txBody>
          <a:bodyPr/>
          <a:lstStyle/>
          <a:p>
            <a:endParaRPr lang="en-IN"/>
          </a:p>
        </p:txBody>
      </p:sp>
      <p:sp>
        <p:nvSpPr>
          <p:cNvPr id="3" name="Text 1"/>
          <p:cNvSpPr/>
          <p:nvPr/>
        </p:nvSpPr>
        <p:spPr>
          <a:xfrm>
            <a:off x="912852" y="1331000"/>
            <a:ext cx="1265873" cy="254079"/>
          </a:xfrm>
          <a:prstGeom prst="rect">
            <a:avLst/>
          </a:prstGeom>
          <a:noFill/>
          <a:ln/>
        </p:spPr>
        <p:txBody>
          <a:bodyPr wrap="none" lIns="0" tIns="0" rIns="0" bIns="0" rtlCol="0" anchor="t"/>
          <a:lstStyle/>
          <a:p>
            <a:pPr marL="0" indent="0" algn="l">
              <a:lnSpc>
                <a:spcPts val="2000"/>
              </a:lnSpc>
              <a:buNone/>
            </a:pPr>
            <a:r>
              <a:rPr lang="en-US" sz="1250" dirty="0">
                <a:solidFill>
                  <a:srgbClr val="BDA189"/>
                </a:solidFill>
                <a:latin typeface="Manrope" pitchFamily="34" charset="0"/>
                <a:ea typeface="Manrope" pitchFamily="34" charset="-122"/>
                <a:cs typeface="Manrope" pitchFamily="34" charset="-120"/>
              </a:rPr>
              <a:t>FIRMWARE LOGIC</a:t>
            </a:r>
            <a:endParaRPr lang="en-US" sz="1250" dirty="0"/>
          </a:p>
        </p:txBody>
      </p:sp>
      <p:sp>
        <p:nvSpPr>
          <p:cNvPr id="4" name="Text 2"/>
          <p:cNvSpPr/>
          <p:nvPr/>
        </p:nvSpPr>
        <p:spPr>
          <a:xfrm>
            <a:off x="793790" y="1723906"/>
            <a:ext cx="8634770" cy="620078"/>
          </a:xfrm>
          <a:prstGeom prst="rect">
            <a:avLst/>
          </a:prstGeom>
          <a:noFill/>
          <a:ln/>
        </p:spPr>
        <p:txBody>
          <a:bodyPr wrap="none" lIns="0" tIns="0" rIns="0" bIns="0" rtlCol="0" anchor="t"/>
          <a:lstStyle/>
          <a:p>
            <a:pPr marL="0" indent="0" algn="l">
              <a:lnSpc>
                <a:spcPts val="4850"/>
              </a:lnSpc>
              <a:buNone/>
            </a:pPr>
            <a:r>
              <a:rPr lang="en-US" sz="3900" dirty="0">
                <a:solidFill>
                  <a:srgbClr val="F2D4BA"/>
                </a:solidFill>
                <a:latin typeface="Prata" pitchFamily="34" charset="0"/>
                <a:ea typeface="Prata" pitchFamily="34" charset="-122"/>
                <a:cs typeface="Prata" pitchFamily="34" charset="-120"/>
              </a:rPr>
              <a:t>Smart Control Logic (Arduino Code)</a:t>
            </a:r>
            <a:endParaRPr lang="en-US" sz="3900" dirty="0"/>
          </a:p>
        </p:txBody>
      </p:sp>
      <p:sp>
        <p:nvSpPr>
          <p:cNvPr id="5" name="Text 3"/>
          <p:cNvSpPr/>
          <p:nvPr/>
        </p:nvSpPr>
        <p:spPr>
          <a:xfrm>
            <a:off x="793790" y="2839998"/>
            <a:ext cx="2480905" cy="317778"/>
          </a:xfrm>
          <a:prstGeom prst="rect">
            <a:avLst/>
          </a:prstGeom>
          <a:noFill/>
          <a:ln/>
        </p:spPr>
        <p:txBody>
          <a:bodyPr wrap="none" lIns="0" tIns="0" rIns="0" bIns="0" rtlCol="0" anchor="t"/>
          <a:lstStyle/>
          <a:p>
            <a:pPr marL="0" indent="0" algn="l">
              <a:lnSpc>
                <a:spcPts val="2400"/>
              </a:lnSpc>
              <a:buNone/>
            </a:pPr>
            <a:r>
              <a:rPr lang="en-US" sz="1950" dirty="0">
                <a:solidFill>
                  <a:srgbClr val="000000"/>
                </a:solidFill>
                <a:latin typeface="Prata" pitchFamily="34" charset="0"/>
                <a:ea typeface="Prata" pitchFamily="34" charset="-122"/>
                <a:cs typeface="Prata" pitchFamily="34" charset="-120"/>
              </a:rPr>
              <a:t>🌡️</a:t>
            </a:r>
            <a:r>
              <a:rPr lang="en-US" sz="1950" dirty="0">
                <a:solidFill>
                  <a:srgbClr val="F2D4BA"/>
                </a:solidFill>
                <a:latin typeface="Prata" pitchFamily="34" charset="0"/>
                <a:ea typeface="Prata" pitchFamily="34" charset="-122"/>
                <a:cs typeface="Prata" pitchFamily="34" charset="-120"/>
              </a:rPr>
              <a:t> Fan Control Rule</a:t>
            </a:r>
            <a:endParaRPr lang="en-US" sz="1950" dirty="0"/>
          </a:p>
        </p:txBody>
      </p:sp>
      <p:sp>
        <p:nvSpPr>
          <p:cNvPr id="6" name="Text 4"/>
          <p:cNvSpPr/>
          <p:nvPr/>
        </p:nvSpPr>
        <p:spPr>
          <a:xfrm>
            <a:off x="793790" y="3356134"/>
            <a:ext cx="6279356" cy="1270159"/>
          </a:xfrm>
          <a:prstGeom prst="rect">
            <a:avLst/>
          </a:prstGeom>
          <a:noFill/>
          <a:ln/>
        </p:spPr>
        <p:txBody>
          <a:bodyPr wrap="square" lIns="0" tIns="0" rIns="0" bIns="0" rtlCol="0" anchor="t"/>
          <a:lstStyle/>
          <a:p>
            <a:pPr marL="0" indent="0" algn="l">
              <a:lnSpc>
                <a:spcPts val="2500"/>
              </a:lnSpc>
              <a:buNone/>
            </a:pPr>
            <a:r>
              <a:rPr lang="en-US" sz="1550" dirty="0">
                <a:solidFill>
                  <a:srgbClr val="BDA189"/>
                </a:solidFill>
                <a:latin typeface="Manrope" pitchFamily="34" charset="0"/>
                <a:ea typeface="Manrope" pitchFamily="34" charset="-122"/>
                <a:cs typeface="Manrope" pitchFamily="34" charset="-120"/>
              </a:rPr>
              <a:t>The fan turns </a:t>
            </a:r>
            <a:r>
              <a:rPr lang="en-US" sz="1550" b="1" dirty="0">
                <a:solidFill>
                  <a:srgbClr val="BDA189"/>
                </a:solidFill>
                <a:latin typeface="Manrope" pitchFamily="34" charset="0"/>
                <a:ea typeface="Manrope" pitchFamily="34" charset="-122"/>
                <a:cs typeface="Manrope" pitchFamily="34" charset="-120"/>
              </a:rPr>
              <a:t>ON</a:t>
            </a:r>
            <a:r>
              <a:rPr lang="en-US" sz="1550" dirty="0">
                <a:solidFill>
                  <a:srgbClr val="BDA189"/>
                </a:solidFill>
                <a:latin typeface="Manrope" pitchFamily="34" charset="0"/>
                <a:ea typeface="Manrope" pitchFamily="34" charset="-122"/>
                <a:cs typeface="Manrope" pitchFamily="34" charset="-120"/>
              </a:rPr>
              <a:t> only when </a:t>
            </a:r>
            <a:r>
              <a:rPr lang="en-US" sz="1550" b="1" dirty="0">
                <a:solidFill>
                  <a:srgbClr val="BDA189"/>
                </a:solidFill>
                <a:latin typeface="Manrope" pitchFamily="34" charset="0"/>
                <a:ea typeface="Manrope" pitchFamily="34" charset="-122"/>
                <a:cs typeface="Manrope" pitchFamily="34" charset="-120"/>
              </a:rPr>
              <a:t>temperature ≥ 30°C</a:t>
            </a:r>
            <a:r>
              <a:rPr lang="en-US" sz="1550" dirty="0">
                <a:solidFill>
                  <a:srgbClr val="BDA189"/>
                </a:solidFill>
                <a:latin typeface="Manrope" pitchFamily="34" charset="0"/>
                <a:ea typeface="Manrope" pitchFamily="34" charset="-122"/>
                <a:cs typeface="Manrope" pitchFamily="34" charset="-120"/>
              </a:rPr>
              <a:t> </a:t>
            </a:r>
            <a:r>
              <a:rPr lang="en-US" sz="1550" i="1" dirty="0">
                <a:solidFill>
                  <a:srgbClr val="BDA189"/>
                </a:solidFill>
                <a:latin typeface="Manrope" pitchFamily="34" charset="0"/>
                <a:ea typeface="Manrope" pitchFamily="34" charset="-122"/>
                <a:cs typeface="Manrope" pitchFamily="34" charset="-120"/>
              </a:rPr>
              <a:t>and</a:t>
            </a:r>
            <a:r>
              <a:rPr lang="en-US" sz="1550" dirty="0">
                <a:solidFill>
                  <a:srgbClr val="BDA189"/>
                </a:solidFill>
                <a:latin typeface="Manrope" pitchFamily="34" charset="0"/>
                <a:ea typeface="Manrope" pitchFamily="34" charset="-122"/>
                <a:cs typeface="Manrope" pitchFamily="34" charset="-120"/>
              </a:rPr>
              <a:t> motion is detected. This dual-condition logic prevents the fan from running in empty rooms, even during hot conditions — directly reducing wasted energy.</a:t>
            </a:r>
            <a:endParaRPr lang="en-US" sz="1550" dirty="0"/>
          </a:p>
        </p:txBody>
      </p:sp>
      <p:sp>
        <p:nvSpPr>
          <p:cNvPr id="7" name="Shape 5"/>
          <p:cNvSpPr/>
          <p:nvPr/>
        </p:nvSpPr>
        <p:spPr>
          <a:xfrm>
            <a:off x="793790" y="4899065"/>
            <a:ext cx="6279356" cy="14883"/>
          </a:xfrm>
          <a:prstGeom prst="rect">
            <a:avLst/>
          </a:prstGeom>
          <a:solidFill>
            <a:srgbClr val="BDA189">
              <a:alpha val="50000"/>
            </a:srgbClr>
          </a:solidFill>
          <a:ln/>
        </p:spPr>
        <p:txBody>
          <a:bodyPr/>
          <a:lstStyle/>
          <a:p>
            <a:endParaRPr lang="en-IN"/>
          </a:p>
        </p:txBody>
      </p:sp>
      <p:sp>
        <p:nvSpPr>
          <p:cNvPr id="8" name="Text 6"/>
          <p:cNvSpPr/>
          <p:nvPr/>
        </p:nvSpPr>
        <p:spPr>
          <a:xfrm>
            <a:off x="793790" y="5186720"/>
            <a:ext cx="2551152" cy="317778"/>
          </a:xfrm>
          <a:prstGeom prst="rect">
            <a:avLst/>
          </a:prstGeom>
          <a:noFill/>
          <a:ln/>
        </p:spPr>
        <p:txBody>
          <a:bodyPr wrap="none" lIns="0" tIns="0" rIns="0" bIns="0" rtlCol="0" anchor="t"/>
          <a:lstStyle/>
          <a:p>
            <a:pPr marL="0" indent="0" algn="l">
              <a:lnSpc>
                <a:spcPts val="2400"/>
              </a:lnSpc>
              <a:buNone/>
            </a:pPr>
            <a:r>
              <a:rPr lang="en-US" sz="1950" dirty="0">
                <a:solidFill>
                  <a:srgbClr val="000000"/>
                </a:solidFill>
                <a:latin typeface="Prata" pitchFamily="34" charset="0"/>
                <a:ea typeface="Prata" pitchFamily="34" charset="-122"/>
                <a:cs typeface="Prata" pitchFamily="34" charset="-120"/>
              </a:rPr>
              <a:t>💡</a:t>
            </a:r>
            <a:r>
              <a:rPr lang="en-US" sz="1950" dirty="0">
                <a:solidFill>
                  <a:srgbClr val="F2D4BA"/>
                </a:solidFill>
                <a:latin typeface="Prata" pitchFamily="34" charset="0"/>
                <a:ea typeface="Prata" pitchFamily="34" charset="-122"/>
                <a:cs typeface="Prata" pitchFamily="34" charset="-120"/>
              </a:rPr>
              <a:t> Light Control Rule</a:t>
            </a:r>
            <a:endParaRPr lang="en-US" sz="1950" dirty="0"/>
          </a:p>
        </p:txBody>
      </p:sp>
      <p:sp>
        <p:nvSpPr>
          <p:cNvPr id="9" name="Text 7"/>
          <p:cNvSpPr/>
          <p:nvPr/>
        </p:nvSpPr>
        <p:spPr>
          <a:xfrm>
            <a:off x="793790" y="5702856"/>
            <a:ext cx="6279356" cy="952619"/>
          </a:xfrm>
          <a:prstGeom prst="rect">
            <a:avLst/>
          </a:prstGeom>
          <a:noFill/>
          <a:ln/>
        </p:spPr>
        <p:txBody>
          <a:bodyPr wrap="square" lIns="0" tIns="0" rIns="0" bIns="0" rtlCol="0" anchor="t"/>
          <a:lstStyle/>
          <a:p>
            <a:pPr marL="0" indent="0" algn="l">
              <a:lnSpc>
                <a:spcPts val="2500"/>
              </a:lnSpc>
              <a:buNone/>
            </a:pPr>
            <a:r>
              <a:rPr lang="en-US" sz="1550" dirty="0">
                <a:solidFill>
                  <a:srgbClr val="BDA189"/>
                </a:solidFill>
                <a:latin typeface="Manrope" pitchFamily="34" charset="0"/>
                <a:ea typeface="Manrope" pitchFamily="34" charset="-122"/>
                <a:cs typeface="Manrope" pitchFamily="34" charset="-120"/>
              </a:rPr>
              <a:t>The light turns </a:t>
            </a:r>
            <a:r>
              <a:rPr lang="en-US" sz="1550" b="1" dirty="0">
                <a:solidFill>
                  <a:srgbClr val="BDA189"/>
                </a:solidFill>
                <a:latin typeface="Manrope" pitchFamily="34" charset="0"/>
                <a:ea typeface="Manrope" pitchFamily="34" charset="-122"/>
                <a:cs typeface="Manrope" pitchFamily="34" charset="-120"/>
              </a:rPr>
              <a:t>ON</a:t>
            </a:r>
            <a:r>
              <a:rPr lang="en-US" sz="1550" dirty="0">
                <a:solidFill>
                  <a:srgbClr val="BDA189"/>
                </a:solidFill>
                <a:latin typeface="Manrope" pitchFamily="34" charset="0"/>
                <a:ea typeface="Manrope" pitchFamily="34" charset="-122"/>
                <a:cs typeface="Manrope" pitchFamily="34" charset="-120"/>
              </a:rPr>
              <a:t> whenever motion is detected and turns </a:t>
            </a:r>
            <a:r>
              <a:rPr lang="en-US" sz="1550" b="1" dirty="0">
                <a:solidFill>
                  <a:srgbClr val="BDA189"/>
                </a:solidFill>
                <a:latin typeface="Manrope" pitchFamily="34" charset="0"/>
                <a:ea typeface="Manrope" pitchFamily="34" charset="-122"/>
                <a:cs typeface="Manrope" pitchFamily="34" charset="-120"/>
              </a:rPr>
              <a:t>OFF</a:t>
            </a:r>
            <a:r>
              <a:rPr lang="en-US" sz="1550" dirty="0">
                <a:solidFill>
                  <a:srgbClr val="BDA189"/>
                </a:solidFill>
                <a:latin typeface="Manrope" pitchFamily="34" charset="0"/>
                <a:ea typeface="Manrope" pitchFamily="34" charset="-122"/>
                <a:cs typeface="Manrope" pitchFamily="34" charset="-120"/>
              </a:rPr>
              <a:t> automatically when the room is empty. No manual intervention required — occupancy is the sole trigger.</a:t>
            </a:r>
            <a:endParaRPr lang="en-US" sz="1550" dirty="0"/>
          </a:p>
        </p:txBody>
      </p:sp>
      <p:sp>
        <p:nvSpPr>
          <p:cNvPr id="10" name="Shape 8"/>
          <p:cNvSpPr/>
          <p:nvPr/>
        </p:nvSpPr>
        <p:spPr>
          <a:xfrm>
            <a:off x="7421999" y="2641640"/>
            <a:ext cx="6565106" cy="4316373"/>
          </a:xfrm>
          <a:prstGeom prst="roundRect">
            <a:avLst>
              <a:gd name="adj" fmla="val 690"/>
            </a:avLst>
          </a:prstGeom>
          <a:solidFill>
            <a:srgbClr val="84482D"/>
          </a:solidFill>
          <a:ln/>
        </p:spPr>
        <p:txBody>
          <a:bodyPr/>
          <a:lstStyle/>
          <a:p>
            <a:endParaRPr lang="en-IN"/>
          </a:p>
        </p:txBody>
      </p:sp>
      <p:sp>
        <p:nvSpPr>
          <p:cNvPr id="11" name="Text 9"/>
          <p:cNvSpPr/>
          <p:nvPr/>
        </p:nvSpPr>
        <p:spPr>
          <a:xfrm>
            <a:off x="7620357" y="2839998"/>
            <a:ext cx="2480905" cy="317778"/>
          </a:xfrm>
          <a:prstGeom prst="rect">
            <a:avLst/>
          </a:prstGeom>
          <a:noFill/>
          <a:ln/>
        </p:spPr>
        <p:txBody>
          <a:bodyPr wrap="none" lIns="0" tIns="0" rIns="0" bIns="0" rtlCol="0" anchor="t"/>
          <a:lstStyle/>
          <a:p>
            <a:pPr marL="0" indent="0" algn="l">
              <a:lnSpc>
                <a:spcPts val="2400"/>
              </a:lnSpc>
              <a:buNone/>
            </a:pPr>
            <a:r>
              <a:rPr lang="en-US" sz="1950" dirty="0">
                <a:solidFill>
                  <a:srgbClr val="000000"/>
                </a:solidFill>
                <a:latin typeface="Prata" pitchFamily="34" charset="0"/>
                <a:ea typeface="Prata" pitchFamily="34" charset="-122"/>
                <a:cs typeface="Prata" pitchFamily="34" charset="-120"/>
              </a:rPr>
              <a:t>⚡</a:t>
            </a:r>
            <a:r>
              <a:rPr lang="en-US" sz="1950" dirty="0">
                <a:solidFill>
                  <a:srgbClr val="F2D4BA"/>
                </a:solidFill>
                <a:latin typeface="Prata" pitchFamily="34" charset="0"/>
                <a:ea typeface="Prata" pitchFamily="34" charset="-122"/>
                <a:cs typeface="Prata" pitchFamily="34" charset="-120"/>
              </a:rPr>
              <a:t> Energy Tracking</a:t>
            </a:r>
            <a:endParaRPr lang="en-US" sz="1950" dirty="0"/>
          </a:p>
        </p:txBody>
      </p:sp>
      <p:sp>
        <p:nvSpPr>
          <p:cNvPr id="12" name="Text 10"/>
          <p:cNvSpPr/>
          <p:nvPr/>
        </p:nvSpPr>
        <p:spPr>
          <a:xfrm>
            <a:off x="7620357" y="3356134"/>
            <a:ext cx="6168390" cy="952619"/>
          </a:xfrm>
          <a:prstGeom prst="rect">
            <a:avLst/>
          </a:prstGeom>
          <a:noFill/>
          <a:ln/>
        </p:spPr>
        <p:txBody>
          <a:bodyPr wrap="square" lIns="0" tIns="0" rIns="0" bIns="0" rtlCol="0" anchor="t"/>
          <a:lstStyle/>
          <a:p>
            <a:pPr marL="0" indent="0" algn="l">
              <a:lnSpc>
                <a:spcPts val="2500"/>
              </a:lnSpc>
              <a:buNone/>
            </a:pPr>
            <a:r>
              <a:rPr lang="en-US" sz="1550" dirty="0">
                <a:solidFill>
                  <a:srgbClr val="FFFFFF"/>
                </a:solidFill>
                <a:latin typeface="Manrope" pitchFamily="34" charset="0"/>
                <a:ea typeface="Manrope" pitchFamily="34" charset="-122"/>
                <a:cs typeface="Manrope" pitchFamily="34" charset="-120"/>
              </a:rPr>
              <a:t>The firmware calculates real-time energy consumption in </a:t>
            </a:r>
            <a:r>
              <a:rPr lang="en-US" sz="1550" b="1" dirty="0">
                <a:solidFill>
                  <a:srgbClr val="FFFFFF"/>
                </a:solidFill>
                <a:latin typeface="Manrope" pitchFamily="34" charset="0"/>
                <a:ea typeface="Manrope" pitchFamily="34" charset="-122"/>
                <a:cs typeface="Manrope" pitchFamily="34" charset="-120"/>
              </a:rPr>
              <a:t>Watt-hours (Wh)</a:t>
            </a:r>
            <a:r>
              <a:rPr lang="en-US" sz="1550" dirty="0">
                <a:solidFill>
                  <a:srgbClr val="FFFFFF"/>
                </a:solidFill>
                <a:latin typeface="Manrope" pitchFamily="34" charset="0"/>
                <a:ea typeface="Manrope" pitchFamily="34" charset="-122"/>
                <a:cs typeface="Manrope" pitchFamily="34" charset="-120"/>
              </a:rPr>
              <a:t> using the formula: </a:t>
            </a:r>
            <a:r>
              <a:rPr lang="en-US" sz="1550" b="1" dirty="0">
                <a:solidFill>
                  <a:srgbClr val="FFFFFF"/>
                </a:solidFill>
                <a:latin typeface="Manrope" pitchFamily="34" charset="0"/>
                <a:ea typeface="Manrope" pitchFamily="34" charset="-122"/>
                <a:cs typeface="Manrope" pitchFamily="34" charset="-120"/>
              </a:rPr>
              <a:t>Power × Elapsed Time</a:t>
            </a:r>
            <a:r>
              <a:rPr lang="en-US" sz="1550" dirty="0">
                <a:solidFill>
                  <a:srgbClr val="FFFFFF"/>
                </a:solidFill>
                <a:latin typeface="Manrope" pitchFamily="34" charset="0"/>
                <a:ea typeface="Manrope" pitchFamily="34" charset="-122"/>
                <a:cs typeface="Manrope" pitchFamily="34" charset="-120"/>
              </a:rPr>
              <a:t>. This running total is transmitted alongside every sensor reading.</a:t>
            </a:r>
            <a:endParaRPr lang="en-US" sz="1550" dirty="0"/>
          </a:p>
        </p:txBody>
      </p:sp>
      <p:sp>
        <p:nvSpPr>
          <p:cNvPr id="13" name="Text 11"/>
          <p:cNvSpPr/>
          <p:nvPr/>
        </p:nvSpPr>
        <p:spPr>
          <a:xfrm>
            <a:off x="7620357" y="4507111"/>
            <a:ext cx="2564725" cy="317778"/>
          </a:xfrm>
          <a:prstGeom prst="rect">
            <a:avLst/>
          </a:prstGeom>
          <a:noFill/>
          <a:ln/>
        </p:spPr>
        <p:txBody>
          <a:bodyPr wrap="none" lIns="0" tIns="0" rIns="0" bIns="0" rtlCol="0" anchor="t"/>
          <a:lstStyle/>
          <a:p>
            <a:pPr marL="0" indent="0" algn="l">
              <a:lnSpc>
                <a:spcPts val="2400"/>
              </a:lnSpc>
              <a:buNone/>
            </a:pPr>
            <a:r>
              <a:rPr lang="en-US" sz="1950" dirty="0">
                <a:solidFill>
                  <a:srgbClr val="000000"/>
                </a:solidFill>
                <a:latin typeface="Prata" pitchFamily="34" charset="0"/>
                <a:ea typeface="Prata" pitchFamily="34" charset="-122"/>
                <a:cs typeface="Prata" pitchFamily="34" charset="-120"/>
              </a:rPr>
              <a:t>📦</a:t>
            </a:r>
            <a:r>
              <a:rPr lang="en-US" sz="1950" dirty="0">
                <a:solidFill>
                  <a:srgbClr val="F2D4BA"/>
                </a:solidFill>
                <a:latin typeface="Prata" pitchFamily="34" charset="0"/>
                <a:ea typeface="Prata" pitchFamily="34" charset="-122"/>
                <a:cs typeface="Prata" pitchFamily="34" charset="-120"/>
              </a:rPr>
              <a:t> Data Payload Sent</a:t>
            </a:r>
            <a:endParaRPr lang="en-US" sz="1950" dirty="0"/>
          </a:p>
        </p:txBody>
      </p:sp>
      <p:sp>
        <p:nvSpPr>
          <p:cNvPr id="14" name="Text 12"/>
          <p:cNvSpPr/>
          <p:nvPr/>
        </p:nvSpPr>
        <p:spPr>
          <a:xfrm>
            <a:off x="7620357" y="5023247"/>
            <a:ext cx="6168390" cy="1865352"/>
          </a:xfrm>
          <a:prstGeom prst="rect">
            <a:avLst/>
          </a:prstGeom>
          <a:noFill/>
          <a:ln/>
        </p:spPr>
        <p:txBody>
          <a:bodyPr wrap="square" lIns="0" tIns="0" rIns="0" bIns="0" rtlCol="0" anchor="t"/>
          <a:lstStyle/>
          <a:p>
            <a:pPr marL="342900" indent="-342900" algn="l">
              <a:lnSpc>
                <a:spcPts val="2500"/>
              </a:lnSpc>
              <a:buSzPct val="100000"/>
              <a:buChar char="•"/>
            </a:pPr>
            <a:r>
              <a:rPr lang="en-US" sz="1550" dirty="0">
                <a:solidFill>
                  <a:srgbClr val="FFFFFF"/>
                </a:solidFill>
                <a:latin typeface="Manrope" pitchFamily="34" charset="0"/>
                <a:ea typeface="Manrope" pitchFamily="34" charset="-122"/>
                <a:cs typeface="Manrope" pitchFamily="34" charset="-120"/>
              </a:rPr>
              <a:t>Temperature (°C)</a:t>
            </a:r>
            <a:endParaRPr lang="en-US" sz="1550" dirty="0"/>
          </a:p>
          <a:p>
            <a:pPr marL="342900" indent="-342900" algn="l">
              <a:lnSpc>
                <a:spcPts val="2500"/>
              </a:lnSpc>
              <a:buSzPct val="100000"/>
              <a:buChar char="•"/>
            </a:pPr>
            <a:r>
              <a:rPr lang="en-US" sz="1550" dirty="0">
                <a:solidFill>
                  <a:srgbClr val="FFFFFF"/>
                </a:solidFill>
                <a:latin typeface="Manrope" pitchFamily="34" charset="0"/>
                <a:ea typeface="Manrope" pitchFamily="34" charset="-122"/>
                <a:cs typeface="Manrope" pitchFamily="34" charset="-120"/>
              </a:rPr>
              <a:t>Humidity (%)</a:t>
            </a:r>
            <a:endParaRPr lang="en-US" sz="1550" dirty="0"/>
          </a:p>
          <a:p>
            <a:pPr marL="342900" indent="-342900" algn="l">
              <a:lnSpc>
                <a:spcPts val="2500"/>
              </a:lnSpc>
              <a:buSzPct val="100000"/>
              <a:buChar char="•"/>
            </a:pPr>
            <a:r>
              <a:rPr lang="en-US" sz="1550" dirty="0">
                <a:solidFill>
                  <a:srgbClr val="FFFFFF"/>
                </a:solidFill>
                <a:latin typeface="Manrope" pitchFamily="34" charset="0"/>
                <a:ea typeface="Manrope" pitchFamily="34" charset="-122"/>
                <a:cs typeface="Manrope" pitchFamily="34" charset="-120"/>
              </a:rPr>
              <a:t>Motion state (active/inactive)</a:t>
            </a:r>
            <a:endParaRPr lang="en-US" sz="1550" dirty="0"/>
          </a:p>
          <a:p>
            <a:pPr marL="342900" indent="-342900" algn="l">
              <a:lnSpc>
                <a:spcPts val="2500"/>
              </a:lnSpc>
              <a:buSzPct val="100000"/>
              <a:buChar char="•"/>
            </a:pPr>
            <a:r>
              <a:rPr lang="en-US" sz="1550" dirty="0">
                <a:solidFill>
                  <a:srgbClr val="FFFFFF"/>
                </a:solidFill>
                <a:latin typeface="Manrope" pitchFamily="34" charset="0"/>
                <a:ea typeface="Manrope" pitchFamily="34" charset="-122"/>
                <a:cs typeface="Manrope" pitchFamily="34" charset="-120"/>
              </a:rPr>
              <a:t>Power draw (Watts)</a:t>
            </a:r>
            <a:endParaRPr lang="en-US" sz="1550" dirty="0"/>
          </a:p>
          <a:p>
            <a:pPr marL="342900" indent="-342900" algn="l">
              <a:lnSpc>
                <a:spcPts val="2500"/>
              </a:lnSpc>
              <a:buSzPct val="100000"/>
              <a:buChar char="•"/>
            </a:pPr>
            <a:r>
              <a:rPr lang="en-US" sz="1550" dirty="0">
                <a:solidFill>
                  <a:srgbClr val="FFFFFF"/>
                </a:solidFill>
                <a:latin typeface="Manrope" pitchFamily="34" charset="0"/>
                <a:ea typeface="Manrope" pitchFamily="34" charset="-122"/>
                <a:cs typeface="Manrope" pitchFamily="34" charset="-120"/>
              </a:rPr>
              <a:t>Cumulative energy (Wh)</a:t>
            </a:r>
            <a:endParaRPr lang="en-US" sz="1550" dirty="0"/>
          </a:p>
        </p:txBody>
      </p:sp>
      <p:pic>
        <p:nvPicPr>
          <p:cNvPr id="15" name="Picture 14"/>
          <p:cNvPicPr>
            <a:picLocks noChangeAspect="1"/>
          </p:cNvPicPr>
          <p:nvPr/>
        </p:nvPicPr>
        <p:blipFill>
          <a:blip r:embed="rId3"/>
          <a:stretch>
            <a:fillRect/>
          </a:stretch>
        </p:blipFill>
        <p:spPr>
          <a:xfrm>
            <a:off x="12113172" y="7783281"/>
            <a:ext cx="2438740" cy="371527"/>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Shape 0"/>
          <p:cNvSpPr/>
          <p:nvPr/>
        </p:nvSpPr>
        <p:spPr>
          <a:xfrm>
            <a:off x="719376" y="557689"/>
            <a:ext cx="857488" cy="327303"/>
          </a:xfrm>
          <a:prstGeom prst="roundRect">
            <a:avLst>
              <a:gd name="adj" fmla="val 6595"/>
            </a:avLst>
          </a:prstGeom>
          <a:solidFill>
            <a:srgbClr val="391F13"/>
          </a:solidFill>
          <a:ln/>
        </p:spPr>
        <p:txBody>
          <a:bodyPr/>
          <a:lstStyle/>
          <a:p>
            <a:endParaRPr lang="en-IN"/>
          </a:p>
        </p:txBody>
      </p:sp>
      <p:sp>
        <p:nvSpPr>
          <p:cNvPr id="4" name="Text 1"/>
          <p:cNvSpPr/>
          <p:nvPr/>
        </p:nvSpPr>
        <p:spPr>
          <a:xfrm>
            <a:off x="827246" y="611624"/>
            <a:ext cx="641747" cy="219432"/>
          </a:xfrm>
          <a:prstGeom prst="rect">
            <a:avLst/>
          </a:prstGeom>
          <a:noFill/>
          <a:ln/>
        </p:spPr>
        <p:txBody>
          <a:bodyPr wrap="none" lIns="0" tIns="0" rIns="0" bIns="0" rtlCol="0" anchor="t"/>
          <a:lstStyle/>
          <a:p>
            <a:pPr marL="0" indent="0" algn="l">
              <a:lnSpc>
                <a:spcPts val="1700"/>
              </a:lnSpc>
              <a:buNone/>
            </a:pPr>
            <a:r>
              <a:rPr lang="en-US" sz="1100" dirty="0">
                <a:solidFill>
                  <a:srgbClr val="BDA189"/>
                </a:solidFill>
                <a:latin typeface="Manrope" pitchFamily="34" charset="0"/>
                <a:ea typeface="Manrope" pitchFamily="34" charset="-122"/>
                <a:cs typeface="Manrope" pitchFamily="34" charset="-120"/>
              </a:rPr>
              <a:t>BACKEND</a:t>
            </a:r>
            <a:endParaRPr lang="en-US" sz="1100" dirty="0"/>
          </a:p>
        </p:txBody>
      </p:sp>
      <p:sp>
        <p:nvSpPr>
          <p:cNvPr id="5" name="Text 2"/>
          <p:cNvSpPr/>
          <p:nvPr/>
        </p:nvSpPr>
        <p:spPr>
          <a:xfrm>
            <a:off x="719376" y="950119"/>
            <a:ext cx="7705249" cy="1124188"/>
          </a:xfrm>
          <a:prstGeom prst="rect">
            <a:avLst/>
          </a:prstGeom>
          <a:noFill/>
          <a:ln/>
        </p:spPr>
        <p:txBody>
          <a:bodyPr wrap="square" lIns="0" tIns="0" rIns="0" bIns="0" rtlCol="0" anchor="t"/>
          <a:lstStyle/>
          <a:p>
            <a:pPr marL="0" indent="0" algn="l">
              <a:lnSpc>
                <a:spcPts val="4400"/>
              </a:lnSpc>
              <a:buNone/>
            </a:pPr>
            <a:r>
              <a:rPr lang="en-US" sz="3500" dirty="0">
                <a:solidFill>
                  <a:srgbClr val="F2D4BA"/>
                </a:solidFill>
                <a:latin typeface="Prata" pitchFamily="34" charset="0"/>
                <a:ea typeface="Prata" pitchFamily="34" charset="-122"/>
                <a:cs typeface="Prata" pitchFamily="34" charset="-120"/>
              </a:rPr>
              <a:t>Flask Backend — EnergyIQ Platform</a:t>
            </a:r>
            <a:endParaRPr lang="en-US" sz="3500" dirty="0"/>
          </a:p>
        </p:txBody>
      </p:sp>
      <p:sp>
        <p:nvSpPr>
          <p:cNvPr id="6" name="Text 3"/>
          <p:cNvSpPr/>
          <p:nvPr/>
        </p:nvSpPr>
        <p:spPr>
          <a:xfrm>
            <a:off x="719376" y="2318742"/>
            <a:ext cx="7705249" cy="822960"/>
          </a:xfrm>
          <a:prstGeom prst="rect">
            <a:avLst/>
          </a:prstGeom>
          <a:noFill/>
          <a:ln/>
        </p:spPr>
        <p:txBody>
          <a:bodyPr wrap="square" lIns="0" tIns="0" rIns="0" bIns="0" rtlCol="0" anchor="t"/>
          <a:lstStyle/>
          <a:p>
            <a:pPr marL="0" indent="0" algn="l">
              <a:lnSpc>
                <a:spcPts val="2150"/>
              </a:lnSpc>
              <a:buNone/>
            </a:pPr>
            <a:r>
              <a:rPr lang="en-US" sz="1400" dirty="0">
                <a:solidFill>
                  <a:srgbClr val="BDA189"/>
                </a:solidFill>
                <a:latin typeface="Manrope" pitchFamily="34" charset="0"/>
                <a:ea typeface="Manrope" pitchFamily="34" charset="-122"/>
                <a:cs typeface="Manrope" pitchFamily="34" charset="-120"/>
              </a:rPr>
              <a:t>The backend is built with </a:t>
            </a:r>
            <a:r>
              <a:rPr lang="en-US" sz="1400" b="1" dirty="0">
                <a:solidFill>
                  <a:srgbClr val="BDA189"/>
                </a:solidFill>
                <a:latin typeface="Manrope" pitchFamily="34" charset="0"/>
                <a:ea typeface="Manrope" pitchFamily="34" charset="-122"/>
                <a:cs typeface="Manrope" pitchFamily="34" charset="-120"/>
              </a:rPr>
              <a:t>Flask (Python)</a:t>
            </a:r>
            <a:r>
              <a:rPr lang="en-US" sz="1400" dirty="0">
                <a:solidFill>
                  <a:srgbClr val="BDA189"/>
                </a:solidFill>
                <a:latin typeface="Manrope" pitchFamily="34" charset="0"/>
                <a:ea typeface="Manrope" pitchFamily="34" charset="-122"/>
                <a:cs typeface="Manrope" pitchFamily="34" charset="-120"/>
              </a:rPr>
              <a:t> and </a:t>
            </a:r>
            <a:r>
              <a:rPr lang="en-US" sz="1400" b="1" dirty="0">
                <a:solidFill>
                  <a:srgbClr val="BDA189"/>
                </a:solidFill>
                <a:latin typeface="Manrope" pitchFamily="34" charset="0"/>
                <a:ea typeface="Manrope" pitchFamily="34" charset="-122"/>
                <a:cs typeface="Manrope" pitchFamily="34" charset="-120"/>
              </a:rPr>
              <a:t>SQLite</a:t>
            </a:r>
            <a:r>
              <a:rPr lang="en-US" sz="1400" dirty="0">
                <a:solidFill>
                  <a:srgbClr val="BDA189"/>
                </a:solidFill>
                <a:latin typeface="Manrope" pitchFamily="34" charset="0"/>
                <a:ea typeface="Manrope" pitchFamily="34" charset="-122"/>
                <a:cs typeface="Manrope" pitchFamily="34" charset="-120"/>
              </a:rPr>
              <a:t>, providing a secure, RESTful API layer between the hardware and the frontend dashboard. JWT-based authentication ensures only authorized users access the system.</a:t>
            </a:r>
            <a:endParaRPr lang="en-US" sz="1400" dirty="0"/>
          </a:p>
        </p:txBody>
      </p:sp>
      <p:sp>
        <p:nvSpPr>
          <p:cNvPr id="7" name="Shape 4"/>
          <p:cNvSpPr/>
          <p:nvPr/>
        </p:nvSpPr>
        <p:spPr>
          <a:xfrm>
            <a:off x="719376" y="3325058"/>
            <a:ext cx="7705249" cy="1340287"/>
          </a:xfrm>
          <a:prstGeom prst="roundRect">
            <a:avLst>
              <a:gd name="adj" fmla="val 8187"/>
            </a:avLst>
          </a:prstGeom>
          <a:solidFill>
            <a:srgbClr val="212326"/>
          </a:solidFill>
          <a:ln w="22860">
            <a:solidFill>
              <a:srgbClr val="595B5E"/>
            </a:solidFill>
            <a:prstDash val="solid"/>
          </a:ln>
        </p:spPr>
        <p:txBody>
          <a:bodyPr/>
          <a:lstStyle/>
          <a:p>
            <a:endParaRPr lang="en-IN"/>
          </a:p>
        </p:txBody>
      </p:sp>
      <p:sp>
        <p:nvSpPr>
          <p:cNvPr id="8" name="Shape 5"/>
          <p:cNvSpPr/>
          <p:nvPr/>
        </p:nvSpPr>
        <p:spPr>
          <a:xfrm>
            <a:off x="696516" y="3325058"/>
            <a:ext cx="91440" cy="1340287"/>
          </a:xfrm>
          <a:prstGeom prst="roundRect">
            <a:avLst>
              <a:gd name="adj" fmla="val 29506"/>
            </a:avLst>
          </a:prstGeom>
          <a:solidFill>
            <a:srgbClr val="84482D"/>
          </a:solidFill>
          <a:ln/>
        </p:spPr>
        <p:txBody>
          <a:bodyPr/>
          <a:lstStyle/>
          <a:p>
            <a:endParaRPr lang="en-IN"/>
          </a:p>
        </p:txBody>
      </p:sp>
      <p:sp>
        <p:nvSpPr>
          <p:cNvPr id="9" name="Text 6"/>
          <p:cNvSpPr/>
          <p:nvPr/>
        </p:nvSpPr>
        <p:spPr>
          <a:xfrm>
            <a:off x="990600" y="3527703"/>
            <a:ext cx="2248257" cy="288608"/>
          </a:xfrm>
          <a:prstGeom prst="rect">
            <a:avLst/>
          </a:prstGeom>
          <a:noFill/>
          <a:ln/>
        </p:spPr>
        <p:txBody>
          <a:bodyPr wrap="none" lIns="0" tIns="0" rIns="0" bIns="0" rtlCol="0" anchor="t"/>
          <a:lstStyle/>
          <a:p>
            <a:pPr marL="0" indent="0" algn="l">
              <a:lnSpc>
                <a:spcPts val="2200"/>
              </a:lnSpc>
              <a:buNone/>
            </a:pPr>
            <a:r>
              <a:rPr lang="en-US" sz="1750" dirty="0">
                <a:solidFill>
                  <a:srgbClr val="000000"/>
                </a:solidFill>
                <a:latin typeface="Prata" pitchFamily="34" charset="0"/>
                <a:ea typeface="Prata" pitchFamily="34" charset="-122"/>
                <a:cs typeface="Prata" pitchFamily="34" charset="-120"/>
              </a:rPr>
              <a:t>🔐</a:t>
            </a:r>
            <a:r>
              <a:rPr lang="en-US" sz="1750" dirty="0">
                <a:solidFill>
                  <a:srgbClr val="BDA189"/>
                </a:solidFill>
                <a:latin typeface="Prata" pitchFamily="34" charset="0"/>
                <a:ea typeface="Prata" pitchFamily="34" charset="-122"/>
                <a:cs typeface="Prata" pitchFamily="34" charset="-120"/>
              </a:rPr>
              <a:t> Security</a:t>
            </a:r>
            <a:endParaRPr lang="en-US" sz="1750" dirty="0"/>
          </a:p>
        </p:txBody>
      </p:sp>
      <p:sp>
        <p:nvSpPr>
          <p:cNvPr id="10" name="Text 7"/>
          <p:cNvSpPr/>
          <p:nvPr/>
        </p:nvSpPr>
        <p:spPr>
          <a:xfrm>
            <a:off x="990600" y="3914061"/>
            <a:ext cx="7231380" cy="548640"/>
          </a:xfrm>
          <a:prstGeom prst="rect">
            <a:avLst/>
          </a:prstGeom>
          <a:noFill/>
          <a:ln/>
        </p:spPr>
        <p:txBody>
          <a:bodyPr wrap="square" lIns="0" tIns="0" rIns="0" bIns="0" rtlCol="0" anchor="t"/>
          <a:lstStyle/>
          <a:p>
            <a:pPr marL="0" indent="0" algn="l">
              <a:lnSpc>
                <a:spcPts val="2150"/>
              </a:lnSpc>
              <a:buNone/>
            </a:pPr>
            <a:r>
              <a:rPr lang="en-US" sz="1400" b="1" dirty="0">
                <a:solidFill>
                  <a:srgbClr val="BDA189"/>
                </a:solidFill>
                <a:latin typeface="Manrope" pitchFamily="34" charset="0"/>
                <a:ea typeface="Manrope" pitchFamily="34" charset="-122"/>
                <a:cs typeface="Manrope" pitchFamily="34" charset="-120"/>
              </a:rPr>
              <a:t>JWT Authentication</a:t>
            </a:r>
            <a:r>
              <a:rPr lang="en-US" sz="1400" dirty="0">
                <a:solidFill>
                  <a:srgbClr val="BDA189"/>
                </a:solidFill>
                <a:latin typeface="Manrope" pitchFamily="34" charset="0"/>
                <a:ea typeface="Manrope" pitchFamily="34" charset="-122"/>
                <a:cs typeface="Manrope" pitchFamily="34" charset="-120"/>
              </a:rPr>
              <a:t> with two roles: </a:t>
            </a:r>
            <a:r>
              <a:rPr lang="en-US" sz="1400" b="1" dirty="0">
                <a:solidFill>
                  <a:srgbClr val="BDA189"/>
                </a:solidFill>
                <a:latin typeface="Manrope" pitchFamily="34" charset="0"/>
                <a:ea typeface="Manrope" pitchFamily="34" charset="-122"/>
                <a:cs typeface="Manrope" pitchFamily="34" charset="-120"/>
              </a:rPr>
              <a:t>Operator</a:t>
            </a:r>
            <a:r>
              <a:rPr lang="en-US" sz="1400" dirty="0">
                <a:solidFill>
                  <a:srgbClr val="BDA189"/>
                </a:solidFill>
                <a:latin typeface="Manrope" pitchFamily="34" charset="0"/>
                <a:ea typeface="Manrope" pitchFamily="34" charset="-122"/>
                <a:cs typeface="Manrope" pitchFamily="34" charset="-120"/>
              </a:rPr>
              <a:t> (device control) and </a:t>
            </a:r>
            <a:r>
              <a:rPr lang="en-US" sz="1400" b="1" dirty="0">
                <a:solidFill>
                  <a:srgbClr val="BDA189"/>
                </a:solidFill>
                <a:latin typeface="Manrope" pitchFamily="34" charset="0"/>
                <a:ea typeface="Manrope" pitchFamily="34" charset="-122"/>
                <a:cs typeface="Manrope" pitchFamily="34" charset="-120"/>
              </a:rPr>
              <a:t>Manager</a:t>
            </a:r>
            <a:r>
              <a:rPr lang="en-US" sz="1400" dirty="0">
                <a:solidFill>
                  <a:srgbClr val="BDA189"/>
                </a:solidFill>
                <a:latin typeface="Manrope" pitchFamily="34" charset="0"/>
                <a:ea typeface="Manrope" pitchFamily="34" charset="-122"/>
                <a:cs typeface="Manrope" pitchFamily="34" charset="-120"/>
              </a:rPr>
              <a:t> (full analytics access). Tokens expire automatically for session security.</a:t>
            </a:r>
            <a:endParaRPr lang="en-US" sz="1400" dirty="0"/>
          </a:p>
        </p:txBody>
      </p:sp>
      <p:sp>
        <p:nvSpPr>
          <p:cNvPr id="11" name="Shape 8"/>
          <p:cNvSpPr/>
          <p:nvPr/>
        </p:nvSpPr>
        <p:spPr>
          <a:xfrm>
            <a:off x="719376" y="4828342"/>
            <a:ext cx="7705249" cy="1340287"/>
          </a:xfrm>
          <a:prstGeom prst="roundRect">
            <a:avLst>
              <a:gd name="adj" fmla="val 8187"/>
            </a:avLst>
          </a:prstGeom>
          <a:solidFill>
            <a:srgbClr val="212326"/>
          </a:solidFill>
          <a:ln w="22860">
            <a:solidFill>
              <a:srgbClr val="595B5E"/>
            </a:solidFill>
            <a:prstDash val="solid"/>
          </a:ln>
        </p:spPr>
        <p:txBody>
          <a:bodyPr/>
          <a:lstStyle/>
          <a:p>
            <a:endParaRPr lang="en-IN"/>
          </a:p>
        </p:txBody>
      </p:sp>
      <p:sp>
        <p:nvSpPr>
          <p:cNvPr id="12" name="Shape 9"/>
          <p:cNvSpPr/>
          <p:nvPr/>
        </p:nvSpPr>
        <p:spPr>
          <a:xfrm>
            <a:off x="696516" y="4828342"/>
            <a:ext cx="91440" cy="1340287"/>
          </a:xfrm>
          <a:prstGeom prst="roundRect">
            <a:avLst>
              <a:gd name="adj" fmla="val 29506"/>
            </a:avLst>
          </a:prstGeom>
          <a:solidFill>
            <a:srgbClr val="84482D"/>
          </a:solidFill>
          <a:ln/>
        </p:spPr>
        <p:txBody>
          <a:bodyPr/>
          <a:lstStyle/>
          <a:p>
            <a:endParaRPr lang="en-IN"/>
          </a:p>
        </p:txBody>
      </p:sp>
      <p:sp>
        <p:nvSpPr>
          <p:cNvPr id="13" name="Text 10"/>
          <p:cNvSpPr/>
          <p:nvPr/>
        </p:nvSpPr>
        <p:spPr>
          <a:xfrm>
            <a:off x="990600" y="5030986"/>
            <a:ext cx="2248257" cy="288608"/>
          </a:xfrm>
          <a:prstGeom prst="rect">
            <a:avLst/>
          </a:prstGeom>
          <a:noFill/>
          <a:ln/>
        </p:spPr>
        <p:txBody>
          <a:bodyPr wrap="none" lIns="0" tIns="0" rIns="0" bIns="0" rtlCol="0" anchor="t"/>
          <a:lstStyle/>
          <a:p>
            <a:pPr marL="0" indent="0" algn="l">
              <a:lnSpc>
                <a:spcPts val="2200"/>
              </a:lnSpc>
              <a:buNone/>
            </a:pPr>
            <a:r>
              <a:rPr lang="en-US" sz="1750" dirty="0">
                <a:solidFill>
                  <a:srgbClr val="000000"/>
                </a:solidFill>
                <a:latin typeface="Prata" pitchFamily="34" charset="0"/>
                <a:ea typeface="Prata" pitchFamily="34" charset="-122"/>
                <a:cs typeface="Prata" pitchFamily="34" charset="-120"/>
              </a:rPr>
              <a:t>🌐</a:t>
            </a:r>
            <a:r>
              <a:rPr lang="en-US" sz="1750" dirty="0">
                <a:solidFill>
                  <a:srgbClr val="BDA189"/>
                </a:solidFill>
                <a:latin typeface="Prata" pitchFamily="34" charset="0"/>
                <a:ea typeface="Prata" pitchFamily="34" charset="-122"/>
                <a:cs typeface="Prata" pitchFamily="34" charset="-120"/>
              </a:rPr>
              <a:t> API Endpoints</a:t>
            </a:r>
            <a:endParaRPr lang="en-US" sz="1750" dirty="0"/>
          </a:p>
        </p:txBody>
      </p:sp>
      <p:sp>
        <p:nvSpPr>
          <p:cNvPr id="14" name="Text 11"/>
          <p:cNvSpPr/>
          <p:nvPr/>
        </p:nvSpPr>
        <p:spPr>
          <a:xfrm>
            <a:off x="990600" y="5417344"/>
            <a:ext cx="7231380" cy="548640"/>
          </a:xfrm>
          <a:prstGeom prst="rect">
            <a:avLst/>
          </a:prstGeom>
          <a:noFill/>
          <a:ln/>
        </p:spPr>
        <p:txBody>
          <a:bodyPr wrap="square" lIns="0" tIns="0" rIns="0" bIns="0" rtlCol="0" anchor="t"/>
          <a:lstStyle/>
          <a:p>
            <a:pPr marL="0" indent="0" algn="l">
              <a:lnSpc>
                <a:spcPts val="2150"/>
              </a:lnSpc>
              <a:buNone/>
            </a:pPr>
            <a:r>
              <a:rPr lang="en-US" sz="1400" dirty="0">
                <a:solidFill>
                  <a:srgbClr val="BDA189"/>
                </a:solidFill>
                <a:highlight>
                  <a:srgbClr val="2E3033"/>
                </a:highlight>
                <a:latin typeface="Consolas" pitchFamily="34" charset="0"/>
                <a:ea typeface="Consolas" pitchFamily="34" charset="-122"/>
                <a:cs typeface="Consolas" pitchFamily="34" charset="-120"/>
              </a:rPr>
              <a:t>/api/sensor-data</a:t>
            </a:r>
            <a:r>
              <a:rPr lang="en-US" sz="1400" dirty="0">
                <a:solidFill>
                  <a:srgbClr val="BDA189"/>
                </a:solidFill>
                <a:latin typeface="Manrope" pitchFamily="34" charset="0"/>
                <a:ea typeface="Manrope" pitchFamily="34" charset="-122"/>
                <a:cs typeface="Manrope" pitchFamily="34" charset="-120"/>
              </a:rPr>
              <a:t> — live readings + alerts + KPIs · </a:t>
            </a:r>
            <a:r>
              <a:rPr lang="en-US" sz="1400" dirty="0">
                <a:solidFill>
                  <a:srgbClr val="BDA189"/>
                </a:solidFill>
                <a:highlight>
                  <a:srgbClr val="2E3033"/>
                </a:highlight>
                <a:latin typeface="Consolas" pitchFamily="34" charset="0"/>
                <a:ea typeface="Consolas" pitchFamily="34" charset="-122"/>
                <a:cs typeface="Consolas" pitchFamily="34" charset="-120"/>
              </a:rPr>
              <a:t>/api/device-control</a:t>
            </a:r>
            <a:r>
              <a:rPr lang="en-US" sz="1400" dirty="0">
                <a:solidFill>
                  <a:srgbClr val="BDA189"/>
                </a:solidFill>
                <a:latin typeface="Manrope" pitchFamily="34" charset="0"/>
                <a:ea typeface="Manrope" pitchFamily="34" charset="-122"/>
                <a:cs typeface="Manrope" pitchFamily="34" charset="-120"/>
              </a:rPr>
              <a:t> — remote toggle · </a:t>
            </a:r>
            <a:r>
              <a:rPr lang="en-US" sz="1400" dirty="0">
                <a:solidFill>
                  <a:srgbClr val="BDA189"/>
                </a:solidFill>
                <a:highlight>
                  <a:srgbClr val="2E3033"/>
                </a:highlight>
                <a:latin typeface="Consolas" pitchFamily="34" charset="0"/>
                <a:ea typeface="Consolas" pitchFamily="34" charset="-122"/>
                <a:cs typeface="Consolas" pitchFamily="34" charset="-120"/>
              </a:rPr>
              <a:t>/api/analytics</a:t>
            </a:r>
            <a:r>
              <a:rPr lang="en-US" sz="1400" dirty="0">
                <a:solidFill>
                  <a:srgbClr val="BDA189"/>
                </a:solidFill>
                <a:latin typeface="Manrope" pitchFamily="34" charset="0"/>
                <a:ea typeface="Manrope" pitchFamily="34" charset="-122"/>
                <a:cs typeface="Manrope" pitchFamily="34" charset="-120"/>
              </a:rPr>
              <a:t> — weekly energy comparison · </a:t>
            </a:r>
            <a:r>
              <a:rPr lang="en-US" sz="1400" dirty="0">
                <a:solidFill>
                  <a:srgbClr val="BDA189"/>
                </a:solidFill>
                <a:highlight>
                  <a:srgbClr val="2E3033"/>
                </a:highlight>
                <a:latin typeface="Consolas" pitchFamily="34" charset="0"/>
                <a:ea typeface="Consolas" pitchFamily="34" charset="-122"/>
                <a:cs typeface="Consolas" pitchFamily="34" charset="-120"/>
              </a:rPr>
              <a:t>/api/export-csv</a:t>
            </a:r>
            <a:r>
              <a:rPr lang="en-US" sz="1400" dirty="0">
                <a:solidFill>
                  <a:srgbClr val="BDA189"/>
                </a:solidFill>
                <a:latin typeface="Manrope" pitchFamily="34" charset="0"/>
                <a:ea typeface="Manrope" pitchFamily="34" charset="-122"/>
                <a:cs typeface="Manrope" pitchFamily="34" charset="-120"/>
              </a:rPr>
              <a:t> — download logs</a:t>
            </a:r>
            <a:endParaRPr lang="en-US" sz="1400" dirty="0"/>
          </a:p>
        </p:txBody>
      </p:sp>
      <p:sp>
        <p:nvSpPr>
          <p:cNvPr id="15" name="Shape 12"/>
          <p:cNvSpPr/>
          <p:nvPr/>
        </p:nvSpPr>
        <p:spPr>
          <a:xfrm>
            <a:off x="719376" y="6331625"/>
            <a:ext cx="7705249" cy="1340287"/>
          </a:xfrm>
          <a:prstGeom prst="roundRect">
            <a:avLst>
              <a:gd name="adj" fmla="val 8187"/>
            </a:avLst>
          </a:prstGeom>
          <a:solidFill>
            <a:srgbClr val="212326"/>
          </a:solidFill>
          <a:ln w="22860">
            <a:solidFill>
              <a:srgbClr val="595B5E"/>
            </a:solidFill>
            <a:prstDash val="solid"/>
          </a:ln>
        </p:spPr>
        <p:txBody>
          <a:bodyPr/>
          <a:lstStyle/>
          <a:p>
            <a:endParaRPr lang="en-IN"/>
          </a:p>
        </p:txBody>
      </p:sp>
      <p:sp>
        <p:nvSpPr>
          <p:cNvPr id="16" name="Shape 13"/>
          <p:cNvSpPr/>
          <p:nvPr/>
        </p:nvSpPr>
        <p:spPr>
          <a:xfrm>
            <a:off x="696516" y="6331625"/>
            <a:ext cx="91440" cy="1340287"/>
          </a:xfrm>
          <a:prstGeom prst="roundRect">
            <a:avLst>
              <a:gd name="adj" fmla="val 29506"/>
            </a:avLst>
          </a:prstGeom>
          <a:solidFill>
            <a:srgbClr val="84482D"/>
          </a:solidFill>
          <a:ln/>
        </p:spPr>
        <p:txBody>
          <a:bodyPr/>
          <a:lstStyle/>
          <a:p>
            <a:endParaRPr lang="en-IN"/>
          </a:p>
        </p:txBody>
      </p:sp>
      <p:sp>
        <p:nvSpPr>
          <p:cNvPr id="17" name="Text 14"/>
          <p:cNvSpPr/>
          <p:nvPr/>
        </p:nvSpPr>
        <p:spPr>
          <a:xfrm>
            <a:off x="990600" y="6534269"/>
            <a:ext cx="2248257" cy="288608"/>
          </a:xfrm>
          <a:prstGeom prst="rect">
            <a:avLst/>
          </a:prstGeom>
          <a:noFill/>
          <a:ln/>
        </p:spPr>
        <p:txBody>
          <a:bodyPr wrap="none" lIns="0" tIns="0" rIns="0" bIns="0" rtlCol="0" anchor="t"/>
          <a:lstStyle/>
          <a:p>
            <a:pPr marL="0" indent="0" algn="l">
              <a:lnSpc>
                <a:spcPts val="2200"/>
              </a:lnSpc>
              <a:buNone/>
            </a:pPr>
            <a:r>
              <a:rPr lang="en-US" sz="1750" dirty="0">
                <a:solidFill>
                  <a:srgbClr val="000000"/>
                </a:solidFill>
                <a:latin typeface="Prata" pitchFamily="34" charset="0"/>
                <a:ea typeface="Prata" pitchFamily="34" charset="-122"/>
                <a:cs typeface="Prata" pitchFamily="34" charset="-120"/>
              </a:rPr>
              <a:t>🚨</a:t>
            </a:r>
            <a:r>
              <a:rPr lang="en-US" sz="1750" dirty="0">
                <a:solidFill>
                  <a:srgbClr val="BDA189"/>
                </a:solidFill>
                <a:latin typeface="Prata" pitchFamily="34" charset="0"/>
                <a:ea typeface="Prata" pitchFamily="34" charset="-122"/>
                <a:cs typeface="Prata" pitchFamily="34" charset="-120"/>
              </a:rPr>
              <a:t> Alert System</a:t>
            </a:r>
            <a:endParaRPr lang="en-US" sz="1750" dirty="0"/>
          </a:p>
        </p:txBody>
      </p:sp>
      <p:sp>
        <p:nvSpPr>
          <p:cNvPr id="18" name="Text 15"/>
          <p:cNvSpPr/>
          <p:nvPr/>
        </p:nvSpPr>
        <p:spPr>
          <a:xfrm>
            <a:off x="990600" y="6920627"/>
            <a:ext cx="7231380" cy="548640"/>
          </a:xfrm>
          <a:prstGeom prst="rect">
            <a:avLst/>
          </a:prstGeom>
          <a:noFill/>
          <a:ln/>
        </p:spPr>
        <p:txBody>
          <a:bodyPr wrap="square" lIns="0" tIns="0" rIns="0" bIns="0" rtlCol="0" anchor="t"/>
          <a:lstStyle/>
          <a:p>
            <a:pPr marL="0" indent="0" algn="l">
              <a:lnSpc>
                <a:spcPts val="2150"/>
              </a:lnSpc>
              <a:buNone/>
            </a:pPr>
            <a:r>
              <a:rPr lang="en-US" sz="1400" b="1" dirty="0">
                <a:solidFill>
                  <a:srgbClr val="BDA189"/>
                </a:solidFill>
                <a:latin typeface="Manrope" pitchFamily="34" charset="0"/>
                <a:ea typeface="Manrope" pitchFamily="34" charset="-122"/>
                <a:cs typeface="Manrope" pitchFamily="34" charset="-120"/>
              </a:rPr>
              <a:t>Critical alerts</a:t>
            </a:r>
            <a:r>
              <a:rPr lang="en-US" sz="1400" dirty="0">
                <a:solidFill>
                  <a:srgbClr val="BDA189"/>
                </a:solidFill>
                <a:latin typeface="Manrope" pitchFamily="34" charset="0"/>
                <a:ea typeface="Manrope" pitchFamily="34" charset="-122"/>
                <a:cs typeface="Manrope" pitchFamily="34" charset="-120"/>
              </a:rPr>
              <a:t> trigger on power spikes or high temperature. </a:t>
            </a:r>
            <a:r>
              <a:rPr lang="en-US" sz="1400" b="1" dirty="0">
                <a:solidFill>
                  <a:srgbClr val="BDA189"/>
                </a:solidFill>
                <a:latin typeface="Manrope" pitchFamily="34" charset="0"/>
                <a:ea typeface="Manrope" pitchFamily="34" charset="-122"/>
                <a:cs typeface="Manrope" pitchFamily="34" charset="-120"/>
              </a:rPr>
              <a:t>Warning alerts</a:t>
            </a:r>
            <a:r>
              <a:rPr lang="en-US" sz="1400" dirty="0">
                <a:solidFill>
                  <a:srgbClr val="BDA189"/>
                </a:solidFill>
                <a:latin typeface="Manrope" pitchFamily="34" charset="0"/>
                <a:ea typeface="Manrope" pitchFamily="34" charset="-122"/>
                <a:cs typeface="Manrope" pitchFamily="34" charset="-120"/>
              </a:rPr>
              <a:t> flag voltage anomalies or devices going offline. Alerts appear instantly on the dashboard.</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793790" y="1277303"/>
            <a:ext cx="1042035" cy="373142"/>
          </a:xfrm>
          <a:prstGeom prst="roundRect">
            <a:avLst>
              <a:gd name="adj" fmla="val 6383"/>
            </a:avLst>
          </a:prstGeom>
          <a:solidFill>
            <a:srgbClr val="391F13"/>
          </a:solidFill>
          <a:ln/>
        </p:spPr>
        <p:txBody>
          <a:bodyPr/>
          <a:lstStyle/>
          <a:p>
            <a:endParaRPr lang="en-IN"/>
          </a:p>
        </p:txBody>
      </p:sp>
      <p:sp>
        <p:nvSpPr>
          <p:cNvPr id="3" name="Text 1"/>
          <p:cNvSpPr/>
          <p:nvPr/>
        </p:nvSpPr>
        <p:spPr>
          <a:xfrm>
            <a:off x="912852" y="1336834"/>
            <a:ext cx="803910" cy="254079"/>
          </a:xfrm>
          <a:prstGeom prst="rect">
            <a:avLst/>
          </a:prstGeom>
          <a:noFill/>
          <a:ln/>
        </p:spPr>
        <p:txBody>
          <a:bodyPr wrap="none" lIns="0" tIns="0" rIns="0" bIns="0" rtlCol="0" anchor="t"/>
          <a:lstStyle/>
          <a:p>
            <a:pPr marL="0" indent="0" algn="l">
              <a:lnSpc>
                <a:spcPts val="2000"/>
              </a:lnSpc>
              <a:buNone/>
            </a:pPr>
            <a:r>
              <a:rPr lang="en-US" sz="1250" dirty="0">
                <a:solidFill>
                  <a:srgbClr val="BDA189"/>
                </a:solidFill>
                <a:latin typeface="Manrope" pitchFamily="34" charset="0"/>
                <a:ea typeface="Manrope" pitchFamily="34" charset="-122"/>
                <a:cs typeface="Manrope" pitchFamily="34" charset="-120"/>
              </a:rPr>
              <a:t>FRONTEND</a:t>
            </a:r>
            <a:endParaRPr lang="en-US" sz="1250" dirty="0"/>
          </a:p>
        </p:txBody>
      </p:sp>
      <p:sp>
        <p:nvSpPr>
          <p:cNvPr id="4" name="Text 2"/>
          <p:cNvSpPr/>
          <p:nvPr/>
        </p:nvSpPr>
        <p:spPr>
          <a:xfrm>
            <a:off x="793790" y="1729740"/>
            <a:ext cx="6517719" cy="620078"/>
          </a:xfrm>
          <a:prstGeom prst="rect">
            <a:avLst/>
          </a:prstGeom>
          <a:noFill/>
          <a:ln/>
        </p:spPr>
        <p:txBody>
          <a:bodyPr wrap="none" lIns="0" tIns="0" rIns="0" bIns="0" rtlCol="0" anchor="t"/>
          <a:lstStyle/>
          <a:p>
            <a:pPr marL="0" indent="0" algn="l">
              <a:lnSpc>
                <a:spcPts val="4850"/>
              </a:lnSpc>
              <a:buNone/>
            </a:pPr>
            <a:r>
              <a:rPr lang="en-US" sz="3900" dirty="0">
                <a:solidFill>
                  <a:srgbClr val="F2D4BA"/>
                </a:solidFill>
                <a:latin typeface="Prata" pitchFamily="34" charset="0"/>
                <a:ea typeface="Prata" pitchFamily="34" charset="-122"/>
                <a:cs typeface="Prata" pitchFamily="34" charset="-120"/>
              </a:rPr>
              <a:t>React Frontend Dashboard</a:t>
            </a:r>
            <a:endParaRPr lang="en-US" sz="3900" dirty="0"/>
          </a:p>
        </p:txBody>
      </p:sp>
      <p:sp>
        <p:nvSpPr>
          <p:cNvPr id="5" name="Text 3"/>
          <p:cNvSpPr/>
          <p:nvPr/>
        </p:nvSpPr>
        <p:spPr>
          <a:xfrm>
            <a:off x="793790" y="2647474"/>
            <a:ext cx="13042821" cy="635079"/>
          </a:xfrm>
          <a:prstGeom prst="rect">
            <a:avLst/>
          </a:prstGeom>
          <a:noFill/>
          <a:ln/>
        </p:spPr>
        <p:txBody>
          <a:bodyPr wrap="square" lIns="0" tIns="0" rIns="0" bIns="0" rtlCol="0" anchor="t"/>
          <a:lstStyle/>
          <a:p>
            <a:pPr marL="0" indent="0" algn="l">
              <a:lnSpc>
                <a:spcPts val="2500"/>
              </a:lnSpc>
              <a:buNone/>
            </a:pPr>
            <a:r>
              <a:rPr lang="en-US" sz="1550" dirty="0">
                <a:solidFill>
                  <a:srgbClr val="BDA189"/>
                </a:solidFill>
                <a:latin typeface="Manrope" pitchFamily="34" charset="0"/>
                <a:ea typeface="Manrope" pitchFamily="34" charset="-122"/>
                <a:cs typeface="Manrope" pitchFamily="34" charset="-120"/>
              </a:rPr>
              <a:t>Built with </a:t>
            </a:r>
            <a:r>
              <a:rPr lang="en-US" sz="1550" b="1" dirty="0">
                <a:solidFill>
                  <a:srgbClr val="BDA189"/>
                </a:solidFill>
                <a:latin typeface="Manrope" pitchFamily="34" charset="0"/>
                <a:ea typeface="Manrope" pitchFamily="34" charset="-122"/>
                <a:cs typeface="Manrope" pitchFamily="34" charset="-120"/>
              </a:rPr>
              <a:t>React + Vite + Chart.js</a:t>
            </a:r>
            <a:r>
              <a:rPr lang="en-US" sz="1550" dirty="0">
                <a:solidFill>
                  <a:srgbClr val="BDA189"/>
                </a:solidFill>
                <a:latin typeface="Manrope" pitchFamily="34" charset="0"/>
                <a:ea typeface="Manrope" pitchFamily="34" charset="-122"/>
                <a:cs typeface="Manrope" pitchFamily="34" charset="-120"/>
              </a:rPr>
              <a:t>, the dashboard delivers a polished, responsive interface that adapts to desktop, tablet, and mobile — with role-based views tailored to each user's responsibilities.</a:t>
            </a:r>
            <a:endParaRPr lang="en-US" sz="1550" dirty="0"/>
          </a:p>
        </p:txBody>
      </p:sp>
      <p:pic>
        <p:nvPicPr>
          <p:cNvPr id="6" name="Image 0" descr="preencoded.png"/>
          <p:cNvPicPr>
            <a:picLocks noChangeAspect="1"/>
          </p:cNvPicPr>
          <p:nvPr/>
        </p:nvPicPr>
        <p:blipFill>
          <a:blip r:embed="rId3"/>
          <a:stretch>
            <a:fillRect/>
          </a:stretch>
        </p:blipFill>
        <p:spPr>
          <a:xfrm>
            <a:off x="793790" y="3505795"/>
            <a:ext cx="2425660" cy="1499116"/>
          </a:xfrm>
          <a:prstGeom prst="rect">
            <a:avLst/>
          </a:prstGeom>
        </p:spPr>
      </p:pic>
      <p:sp>
        <p:nvSpPr>
          <p:cNvPr id="7" name="Text 4"/>
          <p:cNvSpPr/>
          <p:nvPr/>
        </p:nvSpPr>
        <p:spPr>
          <a:xfrm>
            <a:off x="793790" y="5252918"/>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BDA189"/>
                </a:solidFill>
                <a:latin typeface="Prata" pitchFamily="34" charset="0"/>
                <a:ea typeface="Prata" pitchFamily="34" charset="-122"/>
                <a:cs typeface="Prata" pitchFamily="34" charset="-120"/>
              </a:rPr>
              <a:t>Operator View</a:t>
            </a:r>
            <a:endParaRPr lang="en-US" sz="1950" dirty="0"/>
          </a:p>
        </p:txBody>
      </p:sp>
      <p:sp>
        <p:nvSpPr>
          <p:cNvPr id="8" name="Text 5"/>
          <p:cNvSpPr/>
          <p:nvPr/>
        </p:nvSpPr>
        <p:spPr>
          <a:xfrm>
            <a:off x="793790" y="5682139"/>
            <a:ext cx="4182189" cy="1270159"/>
          </a:xfrm>
          <a:prstGeom prst="rect">
            <a:avLst/>
          </a:prstGeom>
          <a:noFill/>
          <a:ln/>
        </p:spPr>
        <p:txBody>
          <a:bodyPr wrap="square" lIns="0" tIns="0" rIns="0" bIns="0" rtlCol="0" anchor="t"/>
          <a:lstStyle/>
          <a:p>
            <a:pPr marL="0" indent="0" algn="l">
              <a:lnSpc>
                <a:spcPts val="2500"/>
              </a:lnSpc>
              <a:buNone/>
            </a:pPr>
            <a:r>
              <a:rPr lang="en-US" sz="1550" dirty="0">
                <a:solidFill>
                  <a:srgbClr val="BDA189"/>
                </a:solidFill>
                <a:latin typeface="Manrope" pitchFamily="34" charset="0"/>
                <a:ea typeface="Manrope" pitchFamily="34" charset="-122"/>
                <a:cs typeface="Manrope" pitchFamily="34" charset="-120"/>
              </a:rPr>
              <a:t>Live sensor readings, device toggle controls, activity log, and real-time alerts — everything needed to monitor and manage devices at a glance.</a:t>
            </a:r>
            <a:endParaRPr lang="en-US" sz="1550" dirty="0"/>
          </a:p>
        </p:txBody>
      </p:sp>
      <p:pic>
        <p:nvPicPr>
          <p:cNvPr id="9" name="Image 1" descr="preencoded.png"/>
          <p:cNvPicPr>
            <a:picLocks noChangeAspect="1"/>
          </p:cNvPicPr>
          <p:nvPr/>
        </p:nvPicPr>
        <p:blipFill>
          <a:blip r:embed="rId4"/>
          <a:stretch>
            <a:fillRect/>
          </a:stretch>
        </p:blipFill>
        <p:spPr>
          <a:xfrm>
            <a:off x="5223986" y="3505795"/>
            <a:ext cx="2425660" cy="1499116"/>
          </a:xfrm>
          <a:prstGeom prst="rect">
            <a:avLst/>
          </a:prstGeom>
        </p:spPr>
      </p:pic>
      <p:sp>
        <p:nvSpPr>
          <p:cNvPr id="10" name="Text 6"/>
          <p:cNvSpPr/>
          <p:nvPr/>
        </p:nvSpPr>
        <p:spPr>
          <a:xfrm>
            <a:off x="5223986" y="5252918"/>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BDA189"/>
                </a:solidFill>
                <a:latin typeface="Prata" pitchFamily="34" charset="0"/>
                <a:ea typeface="Prata" pitchFamily="34" charset="-122"/>
                <a:cs typeface="Prata" pitchFamily="34" charset="-120"/>
              </a:rPr>
              <a:t>Manager View</a:t>
            </a:r>
            <a:endParaRPr lang="en-US" sz="1950" dirty="0"/>
          </a:p>
        </p:txBody>
      </p:sp>
      <p:sp>
        <p:nvSpPr>
          <p:cNvPr id="11" name="Text 7"/>
          <p:cNvSpPr/>
          <p:nvPr/>
        </p:nvSpPr>
        <p:spPr>
          <a:xfrm>
            <a:off x="5223986" y="5682139"/>
            <a:ext cx="4182308" cy="1270159"/>
          </a:xfrm>
          <a:prstGeom prst="rect">
            <a:avLst/>
          </a:prstGeom>
          <a:noFill/>
          <a:ln/>
        </p:spPr>
        <p:txBody>
          <a:bodyPr wrap="square" lIns="0" tIns="0" rIns="0" bIns="0" rtlCol="0" anchor="t"/>
          <a:lstStyle/>
          <a:p>
            <a:pPr marL="0" indent="0" algn="l">
              <a:lnSpc>
                <a:spcPts val="2500"/>
              </a:lnSpc>
              <a:buNone/>
            </a:pPr>
            <a:r>
              <a:rPr lang="en-US" sz="1550" dirty="0">
                <a:solidFill>
                  <a:srgbClr val="BDA189"/>
                </a:solidFill>
                <a:latin typeface="Manrope" pitchFamily="34" charset="0"/>
                <a:ea typeface="Manrope" pitchFamily="34" charset="-122"/>
                <a:cs typeface="Manrope" pitchFamily="34" charset="-120"/>
              </a:rPr>
              <a:t>Advanced analytics including energy timeline (line chart), weekly comparison (bar chart), system health score, and one-click CSV export for reporting.</a:t>
            </a:r>
            <a:endParaRPr lang="en-US" sz="1550" dirty="0"/>
          </a:p>
        </p:txBody>
      </p:sp>
      <p:pic>
        <p:nvPicPr>
          <p:cNvPr id="12" name="Image 2" descr="preencoded.png"/>
          <p:cNvPicPr>
            <a:picLocks noChangeAspect="1"/>
          </p:cNvPicPr>
          <p:nvPr/>
        </p:nvPicPr>
        <p:blipFill>
          <a:blip r:embed="rId5"/>
          <a:stretch>
            <a:fillRect/>
          </a:stretch>
        </p:blipFill>
        <p:spPr>
          <a:xfrm>
            <a:off x="9654302" y="3505795"/>
            <a:ext cx="2425660" cy="1499116"/>
          </a:xfrm>
          <a:prstGeom prst="rect">
            <a:avLst/>
          </a:prstGeom>
        </p:spPr>
      </p:pic>
      <p:sp>
        <p:nvSpPr>
          <p:cNvPr id="13" name="Text 8"/>
          <p:cNvSpPr/>
          <p:nvPr/>
        </p:nvSpPr>
        <p:spPr>
          <a:xfrm>
            <a:off x="9654302" y="5252918"/>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BDA189"/>
                </a:solidFill>
                <a:latin typeface="Prata" pitchFamily="34" charset="0"/>
                <a:ea typeface="Prata" pitchFamily="34" charset="-122"/>
                <a:cs typeface="Prata" pitchFamily="34" charset="-120"/>
              </a:rPr>
              <a:t>Role-Based Access</a:t>
            </a:r>
            <a:endParaRPr lang="en-US" sz="1950" dirty="0"/>
          </a:p>
        </p:txBody>
      </p:sp>
      <p:sp>
        <p:nvSpPr>
          <p:cNvPr id="14" name="Text 9"/>
          <p:cNvSpPr/>
          <p:nvPr/>
        </p:nvSpPr>
        <p:spPr>
          <a:xfrm>
            <a:off x="9654302" y="5682139"/>
            <a:ext cx="4182308" cy="1270159"/>
          </a:xfrm>
          <a:prstGeom prst="rect">
            <a:avLst/>
          </a:prstGeom>
          <a:noFill/>
          <a:ln/>
        </p:spPr>
        <p:txBody>
          <a:bodyPr wrap="square" lIns="0" tIns="0" rIns="0" bIns="0" rtlCol="0" anchor="t"/>
          <a:lstStyle/>
          <a:p>
            <a:pPr marL="0" indent="0" algn="l">
              <a:lnSpc>
                <a:spcPts val="2500"/>
              </a:lnSpc>
              <a:buNone/>
            </a:pPr>
            <a:r>
              <a:rPr lang="en-US" sz="1550" dirty="0">
                <a:solidFill>
                  <a:srgbClr val="BDA189"/>
                </a:solidFill>
                <a:latin typeface="Manrope" pitchFamily="34" charset="0"/>
                <a:ea typeface="Manrope" pitchFamily="34" charset="-122"/>
                <a:cs typeface="Manrope" pitchFamily="34" charset="-120"/>
              </a:rPr>
              <a:t>Operators see the control panel; Managers see full analytics. JWT tokens enforce access levels. Responsive design ensures usability across all screen sizes.</a:t>
            </a:r>
            <a:endParaRPr lang="en-US" sz="1550" dirty="0"/>
          </a:p>
        </p:txBody>
      </p:sp>
      <p:pic>
        <p:nvPicPr>
          <p:cNvPr id="15" name="Picture 14"/>
          <p:cNvPicPr>
            <a:picLocks noChangeAspect="1"/>
          </p:cNvPicPr>
          <p:nvPr/>
        </p:nvPicPr>
        <p:blipFill>
          <a:blip r:embed="rId6"/>
          <a:stretch>
            <a:fillRect/>
          </a:stretch>
        </p:blipFill>
        <p:spPr>
          <a:xfrm>
            <a:off x="12191660" y="7789247"/>
            <a:ext cx="2438740" cy="371527"/>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694611" y="528399"/>
            <a:ext cx="779859" cy="312420"/>
          </a:xfrm>
          <a:prstGeom prst="roundRect">
            <a:avLst>
              <a:gd name="adj" fmla="val 6670"/>
            </a:avLst>
          </a:prstGeom>
          <a:solidFill>
            <a:srgbClr val="391F13"/>
          </a:solidFill>
          <a:ln/>
        </p:spPr>
        <p:txBody>
          <a:bodyPr/>
          <a:lstStyle/>
          <a:p>
            <a:endParaRPr lang="en-IN"/>
          </a:p>
        </p:txBody>
      </p:sp>
      <p:sp>
        <p:nvSpPr>
          <p:cNvPr id="3" name="Text 1"/>
          <p:cNvSpPr/>
          <p:nvPr/>
        </p:nvSpPr>
        <p:spPr>
          <a:xfrm>
            <a:off x="798790" y="580430"/>
            <a:ext cx="571500" cy="208359"/>
          </a:xfrm>
          <a:prstGeom prst="rect">
            <a:avLst/>
          </a:prstGeom>
          <a:noFill/>
          <a:ln/>
        </p:spPr>
        <p:txBody>
          <a:bodyPr wrap="none" lIns="0" tIns="0" rIns="0" bIns="0" rtlCol="0" anchor="t"/>
          <a:lstStyle/>
          <a:p>
            <a:pPr marL="0" indent="0" algn="l">
              <a:lnSpc>
                <a:spcPts val="1600"/>
              </a:lnSpc>
              <a:buNone/>
            </a:pPr>
            <a:r>
              <a:rPr lang="en-US" sz="1050" dirty="0">
                <a:solidFill>
                  <a:srgbClr val="BDA189"/>
                </a:solidFill>
                <a:latin typeface="Manrope" pitchFamily="34" charset="0"/>
                <a:ea typeface="Manrope" pitchFamily="34" charset="-122"/>
                <a:cs typeface="Manrope" pitchFamily="34" charset="-120"/>
              </a:rPr>
              <a:t>RESULTS</a:t>
            </a:r>
            <a:endParaRPr lang="en-US" sz="1050" dirty="0"/>
          </a:p>
        </p:txBody>
      </p:sp>
      <p:sp>
        <p:nvSpPr>
          <p:cNvPr id="4" name="Text 2"/>
          <p:cNvSpPr/>
          <p:nvPr/>
        </p:nvSpPr>
        <p:spPr>
          <a:xfrm>
            <a:off x="694611" y="901541"/>
            <a:ext cx="6105763" cy="557927"/>
          </a:xfrm>
          <a:prstGeom prst="rect">
            <a:avLst/>
          </a:prstGeom>
          <a:noFill/>
          <a:ln/>
        </p:spPr>
        <p:txBody>
          <a:bodyPr wrap="none" lIns="0" tIns="0" rIns="0" bIns="0" rtlCol="0" anchor="t"/>
          <a:lstStyle/>
          <a:p>
            <a:pPr marL="0" indent="0" algn="l">
              <a:lnSpc>
                <a:spcPts val="4250"/>
              </a:lnSpc>
              <a:buNone/>
            </a:pPr>
            <a:r>
              <a:rPr lang="en-US" sz="3400" dirty="0">
                <a:solidFill>
                  <a:srgbClr val="F2D4BA"/>
                </a:solidFill>
                <a:latin typeface="Prata" pitchFamily="34" charset="0"/>
                <a:ea typeface="Prata" pitchFamily="34" charset="-122"/>
                <a:cs typeface="Prata" pitchFamily="34" charset="-120"/>
              </a:rPr>
              <a:t>What the System Achieves </a:t>
            </a:r>
            <a:r>
              <a:rPr lang="en-US" sz="3400" dirty="0">
                <a:solidFill>
                  <a:srgbClr val="000000"/>
                </a:solidFill>
                <a:latin typeface="Prata" pitchFamily="34" charset="0"/>
                <a:ea typeface="Prata" pitchFamily="34" charset="-122"/>
                <a:cs typeface="Prata" pitchFamily="34" charset="-120"/>
              </a:rPr>
              <a:t>✅</a:t>
            </a:r>
            <a:endParaRPr lang="en-US" sz="3400" dirty="0"/>
          </a:p>
        </p:txBody>
      </p:sp>
      <p:sp>
        <p:nvSpPr>
          <p:cNvPr id="5" name="Shape 3"/>
          <p:cNvSpPr/>
          <p:nvPr/>
        </p:nvSpPr>
        <p:spPr>
          <a:xfrm>
            <a:off x="694611" y="1687354"/>
            <a:ext cx="6544628" cy="1903333"/>
          </a:xfrm>
          <a:prstGeom prst="roundRect">
            <a:avLst>
              <a:gd name="adj" fmla="val 1369"/>
            </a:avLst>
          </a:prstGeom>
          <a:solidFill>
            <a:srgbClr val="404245"/>
          </a:solidFill>
          <a:ln/>
        </p:spPr>
        <p:txBody>
          <a:bodyPr/>
          <a:lstStyle/>
          <a:p>
            <a:endParaRPr lang="en-IN"/>
          </a:p>
        </p:txBody>
      </p:sp>
      <p:sp>
        <p:nvSpPr>
          <p:cNvPr id="6" name="Shape 4"/>
          <p:cNvSpPr/>
          <p:nvPr/>
        </p:nvSpPr>
        <p:spPr>
          <a:xfrm>
            <a:off x="868204" y="1860947"/>
            <a:ext cx="520898" cy="520898"/>
          </a:xfrm>
          <a:prstGeom prst="roundRect">
            <a:avLst>
              <a:gd name="adj" fmla="val 17552545"/>
            </a:avLst>
          </a:prstGeom>
          <a:solidFill>
            <a:srgbClr val="84482D"/>
          </a:solidFill>
          <a:ln/>
        </p:spPr>
        <p:txBody>
          <a:bodyPr/>
          <a:lstStyle/>
          <a:p>
            <a:endParaRPr lang="en-IN"/>
          </a:p>
        </p:txBody>
      </p:sp>
      <p:pic>
        <p:nvPicPr>
          <p:cNvPr id="7"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11436" y="2004179"/>
            <a:ext cx="234434" cy="234434"/>
          </a:xfrm>
          <a:prstGeom prst="rect">
            <a:avLst/>
          </a:prstGeom>
        </p:spPr>
      </p:pic>
      <p:sp>
        <p:nvSpPr>
          <p:cNvPr id="8" name="Text 5"/>
          <p:cNvSpPr/>
          <p:nvPr/>
        </p:nvSpPr>
        <p:spPr>
          <a:xfrm>
            <a:off x="868204" y="2533769"/>
            <a:ext cx="2170748" cy="271224"/>
          </a:xfrm>
          <a:prstGeom prst="rect">
            <a:avLst/>
          </a:prstGeom>
          <a:noFill/>
          <a:ln/>
        </p:spPr>
        <p:txBody>
          <a:bodyPr wrap="none" lIns="0" tIns="0" rIns="0" bIns="0" rtlCol="0" anchor="t"/>
          <a:lstStyle/>
          <a:p>
            <a:pPr marL="0" indent="0" algn="l">
              <a:lnSpc>
                <a:spcPts val="2100"/>
              </a:lnSpc>
              <a:buNone/>
            </a:pPr>
            <a:r>
              <a:rPr lang="en-US" sz="1700" dirty="0">
                <a:solidFill>
                  <a:srgbClr val="FFFFFF"/>
                </a:solidFill>
                <a:latin typeface="Prata" pitchFamily="34" charset="0"/>
                <a:ea typeface="Prata" pitchFamily="34" charset="-122"/>
                <a:cs typeface="Prata" pitchFamily="34" charset="-120"/>
              </a:rPr>
              <a:t>Automatic Control</a:t>
            </a:r>
            <a:endParaRPr lang="en-US" sz="1700" dirty="0"/>
          </a:p>
        </p:txBody>
      </p:sp>
      <p:sp>
        <p:nvSpPr>
          <p:cNvPr id="9" name="Text 6"/>
          <p:cNvSpPr/>
          <p:nvPr/>
        </p:nvSpPr>
        <p:spPr>
          <a:xfrm>
            <a:off x="868204" y="2896076"/>
            <a:ext cx="6197441" cy="521017"/>
          </a:xfrm>
          <a:prstGeom prst="rect">
            <a:avLst/>
          </a:prstGeom>
          <a:noFill/>
          <a:ln/>
        </p:spPr>
        <p:txBody>
          <a:bodyPr wrap="square" lIns="0" tIns="0" rIns="0" bIns="0" rtlCol="0" anchor="t"/>
          <a:lstStyle/>
          <a:p>
            <a:pPr marL="0" indent="0" algn="l">
              <a:lnSpc>
                <a:spcPts val="2050"/>
              </a:lnSpc>
              <a:buNone/>
            </a:pPr>
            <a:r>
              <a:rPr lang="en-US" sz="1350" dirty="0">
                <a:solidFill>
                  <a:srgbClr val="FFFFFF"/>
                </a:solidFill>
                <a:latin typeface="Manrope" pitchFamily="34" charset="0"/>
                <a:ea typeface="Manrope" pitchFamily="34" charset="-122"/>
                <a:cs typeface="Manrope" pitchFamily="34" charset="-120"/>
              </a:rPr>
              <a:t>Fan and light respond to real occupancy and temperature — zero manual input required.</a:t>
            </a:r>
            <a:endParaRPr lang="en-US" sz="1350" dirty="0"/>
          </a:p>
        </p:txBody>
      </p:sp>
      <p:sp>
        <p:nvSpPr>
          <p:cNvPr id="10" name="Shape 7"/>
          <p:cNvSpPr/>
          <p:nvPr/>
        </p:nvSpPr>
        <p:spPr>
          <a:xfrm>
            <a:off x="7391162" y="1687354"/>
            <a:ext cx="6544628" cy="1903333"/>
          </a:xfrm>
          <a:prstGeom prst="roundRect">
            <a:avLst>
              <a:gd name="adj" fmla="val 1369"/>
            </a:avLst>
          </a:prstGeom>
          <a:solidFill>
            <a:srgbClr val="404245"/>
          </a:solidFill>
          <a:ln/>
        </p:spPr>
        <p:txBody>
          <a:bodyPr/>
          <a:lstStyle/>
          <a:p>
            <a:endParaRPr lang="en-IN"/>
          </a:p>
        </p:txBody>
      </p:sp>
      <p:sp>
        <p:nvSpPr>
          <p:cNvPr id="11" name="Shape 8"/>
          <p:cNvSpPr/>
          <p:nvPr/>
        </p:nvSpPr>
        <p:spPr>
          <a:xfrm>
            <a:off x="7564755" y="1860947"/>
            <a:ext cx="520898" cy="520898"/>
          </a:xfrm>
          <a:prstGeom prst="roundRect">
            <a:avLst>
              <a:gd name="adj" fmla="val 17552545"/>
            </a:avLst>
          </a:prstGeom>
          <a:solidFill>
            <a:srgbClr val="84482D"/>
          </a:solidFill>
          <a:ln/>
        </p:spPr>
        <p:txBody>
          <a:bodyPr/>
          <a:lstStyle/>
          <a:p>
            <a:endParaRPr lang="en-IN"/>
          </a:p>
        </p:txBody>
      </p:sp>
      <p:pic>
        <p:nvPicPr>
          <p:cNvPr id="12"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707987" y="2004179"/>
            <a:ext cx="234434" cy="234434"/>
          </a:xfrm>
          <a:prstGeom prst="rect">
            <a:avLst/>
          </a:prstGeom>
        </p:spPr>
      </p:pic>
      <p:sp>
        <p:nvSpPr>
          <p:cNvPr id="13" name="Text 9"/>
          <p:cNvSpPr/>
          <p:nvPr/>
        </p:nvSpPr>
        <p:spPr>
          <a:xfrm>
            <a:off x="7564755" y="2533769"/>
            <a:ext cx="2411254" cy="271224"/>
          </a:xfrm>
          <a:prstGeom prst="rect">
            <a:avLst/>
          </a:prstGeom>
          <a:noFill/>
          <a:ln/>
        </p:spPr>
        <p:txBody>
          <a:bodyPr wrap="none" lIns="0" tIns="0" rIns="0" bIns="0" rtlCol="0" anchor="t"/>
          <a:lstStyle/>
          <a:p>
            <a:pPr marL="0" indent="0" algn="l">
              <a:lnSpc>
                <a:spcPts val="2100"/>
              </a:lnSpc>
              <a:buNone/>
            </a:pPr>
            <a:r>
              <a:rPr lang="en-US" sz="1700" dirty="0">
                <a:solidFill>
                  <a:srgbClr val="FFFFFF"/>
                </a:solidFill>
                <a:latin typeface="Prata" pitchFamily="34" charset="0"/>
                <a:ea typeface="Prata" pitchFamily="34" charset="-122"/>
                <a:cs typeface="Prata" pitchFamily="34" charset="-120"/>
              </a:rPr>
              <a:t>Real-Time Energy KPIs</a:t>
            </a:r>
            <a:endParaRPr lang="en-US" sz="1700" dirty="0"/>
          </a:p>
        </p:txBody>
      </p:sp>
      <p:sp>
        <p:nvSpPr>
          <p:cNvPr id="14" name="Text 10"/>
          <p:cNvSpPr/>
          <p:nvPr/>
        </p:nvSpPr>
        <p:spPr>
          <a:xfrm>
            <a:off x="7564755" y="2896076"/>
            <a:ext cx="6197441" cy="521017"/>
          </a:xfrm>
          <a:prstGeom prst="rect">
            <a:avLst/>
          </a:prstGeom>
          <a:noFill/>
          <a:ln/>
        </p:spPr>
        <p:txBody>
          <a:bodyPr wrap="square" lIns="0" tIns="0" rIns="0" bIns="0" rtlCol="0" anchor="t"/>
          <a:lstStyle/>
          <a:p>
            <a:pPr marL="0" indent="0" algn="l">
              <a:lnSpc>
                <a:spcPts val="2050"/>
              </a:lnSpc>
              <a:buNone/>
            </a:pPr>
            <a:r>
              <a:rPr lang="en-US" sz="1350" dirty="0">
                <a:solidFill>
                  <a:srgbClr val="FFFFFF"/>
                </a:solidFill>
                <a:latin typeface="Manrope" pitchFamily="34" charset="0"/>
                <a:ea typeface="Manrope" pitchFamily="34" charset="-122"/>
                <a:cs typeface="Manrope" pitchFamily="34" charset="-120"/>
              </a:rPr>
              <a:t>Live monitoring of kWh today, average power, and device runtime with instant updates.</a:t>
            </a:r>
            <a:endParaRPr lang="en-US" sz="1350" dirty="0"/>
          </a:p>
        </p:txBody>
      </p:sp>
      <p:sp>
        <p:nvSpPr>
          <p:cNvPr id="15" name="Shape 11"/>
          <p:cNvSpPr/>
          <p:nvPr/>
        </p:nvSpPr>
        <p:spPr>
          <a:xfrm>
            <a:off x="694611" y="3742611"/>
            <a:ext cx="6544628" cy="1903333"/>
          </a:xfrm>
          <a:prstGeom prst="roundRect">
            <a:avLst>
              <a:gd name="adj" fmla="val 1369"/>
            </a:avLst>
          </a:prstGeom>
          <a:solidFill>
            <a:srgbClr val="404245"/>
          </a:solidFill>
          <a:ln/>
        </p:spPr>
        <p:txBody>
          <a:bodyPr/>
          <a:lstStyle/>
          <a:p>
            <a:endParaRPr lang="en-IN"/>
          </a:p>
        </p:txBody>
      </p:sp>
      <p:sp>
        <p:nvSpPr>
          <p:cNvPr id="16" name="Shape 12"/>
          <p:cNvSpPr/>
          <p:nvPr/>
        </p:nvSpPr>
        <p:spPr>
          <a:xfrm>
            <a:off x="868204" y="3916204"/>
            <a:ext cx="520898" cy="520898"/>
          </a:xfrm>
          <a:prstGeom prst="roundRect">
            <a:avLst>
              <a:gd name="adj" fmla="val 17552545"/>
            </a:avLst>
          </a:prstGeom>
          <a:solidFill>
            <a:srgbClr val="84482D"/>
          </a:solidFill>
          <a:ln/>
        </p:spPr>
        <p:txBody>
          <a:bodyPr/>
          <a:lstStyle/>
          <a:p>
            <a:endParaRPr lang="en-IN"/>
          </a:p>
        </p:txBody>
      </p:sp>
      <p:pic>
        <p:nvPicPr>
          <p:cNvPr id="17"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11436" y="4059436"/>
            <a:ext cx="234434" cy="234434"/>
          </a:xfrm>
          <a:prstGeom prst="rect">
            <a:avLst/>
          </a:prstGeom>
        </p:spPr>
      </p:pic>
      <p:sp>
        <p:nvSpPr>
          <p:cNvPr id="18" name="Text 13"/>
          <p:cNvSpPr/>
          <p:nvPr/>
        </p:nvSpPr>
        <p:spPr>
          <a:xfrm>
            <a:off x="868204" y="4589026"/>
            <a:ext cx="2170748" cy="271224"/>
          </a:xfrm>
          <a:prstGeom prst="rect">
            <a:avLst/>
          </a:prstGeom>
          <a:noFill/>
          <a:ln/>
        </p:spPr>
        <p:txBody>
          <a:bodyPr wrap="none" lIns="0" tIns="0" rIns="0" bIns="0" rtlCol="0" anchor="t"/>
          <a:lstStyle/>
          <a:p>
            <a:pPr marL="0" indent="0" algn="l">
              <a:lnSpc>
                <a:spcPts val="2100"/>
              </a:lnSpc>
              <a:buNone/>
            </a:pPr>
            <a:r>
              <a:rPr lang="en-US" sz="1700" dirty="0">
                <a:solidFill>
                  <a:srgbClr val="FFFFFF"/>
                </a:solidFill>
                <a:latin typeface="Prata" pitchFamily="34" charset="0"/>
                <a:ea typeface="Prata" pitchFamily="34" charset="-122"/>
                <a:cs typeface="Prata" pitchFamily="34" charset="-120"/>
              </a:rPr>
              <a:t>Dual Cloud Logging</a:t>
            </a:r>
            <a:endParaRPr lang="en-US" sz="1700" dirty="0"/>
          </a:p>
        </p:txBody>
      </p:sp>
      <p:sp>
        <p:nvSpPr>
          <p:cNvPr id="19" name="Text 14"/>
          <p:cNvSpPr/>
          <p:nvPr/>
        </p:nvSpPr>
        <p:spPr>
          <a:xfrm>
            <a:off x="868204" y="4951333"/>
            <a:ext cx="6197441" cy="521017"/>
          </a:xfrm>
          <a:prstGeom prst="rect">
            <a:avLst/>
          </a:prstGeom>
          <a:noFill/>
          <a:ln/>
        </p:spPr>
        <p:txBody>
          <a:bodyPr wrap="square" lIns="0" tIns="0" rIns="0" bIns="0" rtlCol="0" anchor="t"/>
          <a:lstStyle/>
          <a:p>
            <a:pPr marL="0" indent="0" algn="l">
              <a:lnSpc>
                <a:spcPts val="2050"/>
              </a:lnSpc>
              <a:buNone/>
            </a:pPr>
            <a:r>
              <a:rPr lang="en-US" sz="1350" dirty="0">
                <a:solidFill>
                  <a:srgbClr val="FFFFFF"/>
                </a:solidFill>
                <a:latin typeface="Manrope" pitchFamily="34" charset="0"/>
                <a:ea typeface="Manrope" pitchFamily="34" charset="-122"/>
                <a:cs typeface="Manrope" pitchFamily="34" charset="-120"/>
              </a:rPr>
              <a:t>Data logged simultaneously to local server and Google Sheets for redundancy and accessibility.</a:t>
            </a:r>
            <a:endParaRPr lang="en-US" sz="1350" dirty="0"/>
          </a:p>
        </p:txBody>
      </p:sp>
      <p:sp>
        <p:nvSpPr>
          <p:cNvPr id="20" name="Shape 15"/>
          <p:cNvSpPr/>
          <p:nvPr/>
        </p:nvSpPr>
        <p:spPr>
          <a:xfrm>
            <a:off x="7391162" y="3742611"/>
            <a:ext cx="6544628" cy="1903333"/>
          </a:xfrm>
          <a:prstGeom prst="roundRect">
            <a:avLst>
              <a:gd name="adj" fmla="val 1369"/>
            </a:avLst>
          </a:prstGeom>
          <a:solidFill>
            <a:srgbClr val="404245"/>
          </a:solidFill>
          <a:ln/>
        </p:spPr>
        <p:txBody>
          <a:bodyPr/>
          <a:lstStyle/>
          <a:p>
            <a:endParaRPr lang="en-IN"/>
          </a:p>
        </p:txBody>
      </p:sp>
      <p:sp>
        <p:nvSpPr>
          <p:cNvPr id="21" name="Shape 16"/>
          <p:cNvSpPr/>
          <p:nvPr/>
        </p:nvSpPr>
        <p:spPr>
          <a:xfrm>
            <a:off x="7564755" y="3916204"/>
            <a:ext cx="520898" cy="520898"/>
          </a:xfrm>
          <a:prstGeom prst="roundRect">
            <a:avLst>
              <a:gd name="adj" fmla="val 17552545"/>
            </a:avLst>
          </a:prstGeom>
          <a:solidFill>
            <a:srgbClr val="84482D"/>
          </a:solidFill>
          <a:ln/>
        </p:spPr>
        <p:txBody>
          <a:bodyPr/>
          <a:lstStyle/>
          <a:p>
            <a:endParaRPr lang="en-IN"/>
          </a:p>
        </p:txBody>
      </p:sp>
      <p:pic>
        <p:nvPicPr>
          <p:cNvPr id="22"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707987" y="4059436"/>
            <a:ext cx="234434" cy="234434"/>
          </a:xfrm>
          <a:prstGeom prst="rect">
            <a:avLst/>
          </a:prstGeom>
        </p:spPr>
      </p:pic>
      <p:sp>
        <p:nvSpPr>
          <p:cNvPr id="23" name="Text 17"/>
          <p:cNvSpPr/>
          <p:nvPr/>
        </p:nvSpPr>
        <p:spPr>
          <a:xfrm>
            <a:off x="7564755" y="4589026"/>
            <a:ext cx="2170748" cy="271224"/>
          </a:xfrm>
          <a:prstGeom prst="rect">
            <a:avLst/>
          </a:prstGeom>
          <a:noFill/>
          <a:ln/>
        </p:spPr>
        <p:txBody>
          <a:bodyPr wrap="none" lIns="0" tIns="0" rIns="0" bIns="0" rtlCol="0" anchor="t"/>
          <a:lstStyle/>
          <a:p>
            <a:pPr marL="0" indent="0" algn="l">
              <a:lnSpc>
                <a:spcPts val="2100"/>
              </a:lnSpc>
              <a:buNone/>
            </a:pPr>
            <a:r>
              <a:rPr lang="en-US" sz="1700" dirty="0">
                <a:solidFill>
                  <a:srgbClr val="FFFFFF"/>
                </a:solidFill>
                <a:latin typeface="Prata" pitchFamily="34" charset="0"/>
                <a:ea typeface="Prata" pitchFamily="34" charset="-122"/>
                <a:cs typeface="Prata" pitchFamily="34" charset="-120"/>
              </a:rPr>
              <a:t>Smart Alerts</a:t>
            </a:r>
            <a:endParaRPr lang="en-US" sz="1700" dirty="0"/>
          </a:p>
        </p:txBody>
      </p:sp>
      <p:sp>
        <p:nvSpPr>
          <p:cNvPr id="24" name="Text 18"/>
          <p:cNvSpPr/>
          <p:nvPr/>
        </p:nvSpPr>
        <p:spPr>
          <a:xfrm>
            <a:off x="7564755" y="4951333"/>
            <a:ext cx="6197441" cy="521017"/>
          </a:xfrm>
          <a:prstGeom prst="rect">
            <a:avLst/>
          </a:prstGeom>
          <a:noFill/>
          <a:ln/>
        </p:spPr>
        <p:txBody>
          <a:bodyPr wrap="square" lIns="0" tIns="0" rIns="0" bIns="0" rtlCol="0" anchor="t"/>
          <a:lstStyle/>
          <a:p>
            <a:pPr marL="0" indent="0" algn="l">
              <a:lnSpc>
                <a:spcPts val="2050"/>
              </a:lnSpc>
              <a:buNone/>
            </a:pPr>
            <a:r>
              <a:rPr lang="en-US" sz="1350" dirty="0">
                <a:solidFill>
                  <a:srgbClr val="FFFFFF"/>
                </a:solidFill>
                <a:latin typeface="Manrope" pitchFamily="34" charset="0"/>
                <a:ea typeface="Manrope" pitchFamily="34" charset="-122"/>
                <a:cs typeface="Manrope" pitchFamily="34" charset="-120"/>
              </a:rPr>
              <a:t>Instant web alerts for power spikes and high temperature thresholds — keeping users informed.</a:t>
            </a:r>
            <a:endParaRPr lang="en-US" sz="1350" dirty="0"/>
          </a:p>
        </p:txBody>
      </p:sp>
      <p:sp>
        <p:nvSpPr>
          <p:cNvPr id="25" name="Shape 19"/>
          <p:cNvSpPr/>
          <p:nvPr/>
        </p:nvSpPr>
        <p:spPr>
          <a:xfrm>
            <a:off x="694611" y="5797868"/>
            <a:ext cx="6544628" cy="1903333"/>
          </a:xfrm>
          <a:prstGeom prst="roundRect">
            <a:avLst>
              <a:gd name="adj" fmla="val 1369"/>
            </a:avLst>
          </a:prstGeom>
          <a:solidFill>
            <a:srgbClr val="404245"/>
          </a:solidFill>
          <a:ln/>
        </p:spPr>
        <p:txBody>
          <a:bodyPr/>
          <a:lstStyle/>
          <a:p>
            <a:endParaRPr lang="en-IN"/>
          </a:p>
        </p:txBody>
      </p:sp>
      <p:sp>
        <p:nvSpPr>
          <p:cNvPr id="26" name="Shape 20"/>
          <p:cNvSpPr/>
          <p:nvPr/>
        </p:nvSpPr>
        <p:spPr>
          <a:xfrm>
            <a:off x="868204" y="5971461"/>
            <a:ext cx="520898" cy="520898"/>
          </a:xfrm>
          <a:prstGeom prst="roundRect">
            <a:avLst>
              <a:gd name="adj" fmla="val 17552545"/>
            </a:avLst>
          </a:prstGeom>
          <a:solidFill>
            <a:srgbClr val="84482D"/>
          </a:solidFill>
          <a:ln/>
        </p:spPr>
        <p:txBody>
          <a:bodyPr/>
          <a:lstStyle/>
          <a:p>
            <a:endParaRPr lang="en-IN"/>
          </a:p>
        </p:txBody>
      </p:sp>
      <p:pic>
        <p:nvPicPr>
          <p:cNvPr id="27"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11436" y="6114693"/>
            <a:ext cx="234434" cy="234434"/>
          </a:xfrm>
          <a:prstGeom prst="rect">
            <a:avLst/>
          </a:prstGeom>
        </p:spPr>
      </p:pic>
      <p:sp>
        <p:nvSpPr>
          <p:cNvPr id="28" name="Text 21"/>
          <p:cNvSpPr/>
          <p:nvPr/>
        </p:nvSpPr>
        <p:spPr>
          <a:xfrm>
            <a:off x="868204" y="6644283"/>
            <a:ext cx="2170748" cy="271224"/>
          </a:xfrm>
          <a:prstGeom prst="rect">
            <a:avLst/>
          </a:prstGeom>
          <a:noFill/>
          <a:ln/>
        </p:spPr>
        <p:txBody>
          <a:bodyPr wrap="none" lIns="0" tIns="0" rIns="0" bIns="0" rtlCol="0" anchor="t"/>
          <a:lstStyle/>
          <a:p>
            <a:pPr marL="0" indent="0" algn="l">
              <a:lnSpc>
                <a:spcPts val="2100"/>
              </a:lnSpc>
              <a:buNone/>
            </a:pPr>
            <a:r>
              <a:rPr lang="en-US" sz="1700" dirty="0">
                <a:solidFill>
                  <a:srgbClr val="FFFFFF"/>
                </a:solidFill>
                <a:latin typeface="Prata" pitchFamily="34" charset="0"/>
                <a:ea typeface="Prata" pitchFamily="34" charset="-122"/>
                <a:cs typeface="Prata" pitchFamily="34" charset="-120"/>
              </a:rPr>
              <a:t>CSV Energy Export</a:t>
            </a:r>
            <a:endParaRPr lang="en-US" sz="1700" dirty="0"/>
          </a:p>
        </p:txBody>
      </p:sp>
      <p:sp>
        <p:nvSpPr>
          <p:cNvPr id="29" name="Text 22"/>
          <p:cNvSpPr/>
          <p:nvPr/>
        </p:nvSpPr>
        <p:spPr>
          <a:xfrm>
            <a:off x="868204" y="7006590"/>
            <a:ext cx="6197441" cy="521017"/>
          </a:xfrm>
          <a:prstGeom prst="rect">
            <a:avLst/>
          </a:prstGeom>
          <a:noFill/>
          <a:ln/>
        </p:spPr>
        <p:txBody>
          <a:bodyPr wrap="square" lIns="0" tIns="0" rIns="0" bIns="0" rtlCol="0" anchor="t"/>
          <a:lstStyle/>
          <a:p>
            <a:pPr marL="0" indent="0" algn="l">
              <a:lnSpc>
                <a:spcPts val="2050"/>
              </a:lnSpc>
              <a:buNone/>
            </a:pPr>
            <a:r>
              <a:rPr lang="en-US" sz="1350" dirty="0">
                <a:solidFill>
                  <a:srgbClr val="FFFFFF"/>
                </a:solidFill>
                <a:latin typeface="Manrope" pitchFamily="34" charset="0"/>
                <a:ea typeface="Manrope" pitchFamily="34" charset="-122"/>
                <a:cs typeface="Manrope" pitchFamily="34" charset="-120"/>
              </a:rPr>
              <a:t>Download complete energy logs for offline analysis, reporting, or further processing.</a:t>
            </a:r>
            <a:endParaRPr lang="en-US" sz="1350" dirty="0"/>
          </a:p>
        </p:txBody>
      </p:sp>
      <p:sp>
        <p:nvSpPr>
          <p:cNvPr id="30" name="Shape 23"/>
          <p:cNvSpPr/>
          <p:nvPr/>
        </p:nvSpPr>
        <p:spPr>
          <a:xfrm>
            <a:off x="7391162" y="5797868"/>
            <a:ext cx="6544628" cy="1903333"/>
          </a:xfrm>
          <a:prstGeom prst="roundRect">
            <a:avLst>
              <a:gd name="adj" fmla="val 1369"/>
            </a:avLst>
          </a:prstGeom>
          <a:solidFill>
            <a:srgbClr val="404245"/>
          </a:solidFill>
          <a:ln/>
        </p:spPr>
        <p:txBody>
          <a:bodyPr/>
          <a:lstStyle/>
          <a:p>
            <a:endParaRPr lang="en-IN"/>
          </a:p>
        </p:txBody>
      </p:sp>
      <p:sp>
        <p:nvSpPr>
          <p:cNvPr id="31" name="Shape 24"/>
          <p:cNvSpPr/>
          <p:nvPr/>
        </p:nvSpPr>
        <p:spPr>
          <a:xfrm>
            <a:off x="7564755" y="5971461"/>
            <a:ext cx="520898" cy="520898"/>
          </a:xfrm>
          <a:prstGeom prst="roundRect">
            <a:avLst>
              <a:gd name="adj" fmla="val 17552545"/>
            </a:avLst>
          </a:prstGeom>
          <a:solidFill>
            <a:srgbClr val="84482D"/>
          </a:solidFill>
          <a:ln/>
        </p:spPr>
        <p:txBody>
          <a:bodyPr/>
          <a:lstStyle/>
          <a:p>
            <a:endParaRPr lang="en-IN"/>
          </a:p>
        </p:txBody>
      </p:sp>
      <p:pic>
        <p:nvPicPr>
          <p:cNvPr id="32"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7707987" y="6114693"/>
            <a:ext cx="234434" cy="234434"/>
          </a:xfrm>
          <a:prstGeom prst="rect">
            <a:avLst/>
          </a:prstGeom>
        </p:spPr>
      </p:pic>
      <p:sp>
        <p:nvSpPr>
          <p:cNvPr id="33" name="Text 25"/>
          <p:cNvSpPr/>
          <p:nvPr/>
        </p:nvSpPr>
        <p:spPr>
          <a:xfrm>
            <a:off x="7564755" y="6644283"/>
            <a:ext cx="2170748" cy="271224"/>
          </a:xfrm>
          <a:prstGeom prst="rect">
            <a:avLst/>
          </a:prstGeom>
          <a:noFill/>
          <a:ln/>
        </p:spPr>
        <p:txBody>
          <a:bodyPr wrap="none" lIns="0" tIns="0" rIns="0" bIns="0" rtlCol="0" anchor="t"/>
          <a:lstStyle/>
          <a:p>
            <a:pPr marL="0" indent="0" algn="l">
              <a:lnSpc>
                <a:spcPts val="2100"/>
              </a:lnSpc>
              <a:buNone/>
            </a:pPr>
            <a:r>
              <a:rPr lang="en-US" sz="1700" dirty="0">
                <a:solidFill>
                  <a:srgbClr val="FFFFFF"/>
                </a:solidFill>
                <a:latin typeface="Prata" pitchFamily="34" charset="0"/>
                <a:ea typeface="Prata" pitchFamily="34" charset="-122"/>
                <a:cs typeface="Prata" pitchFamily="34" charset="-120"/>
              </a:rPr>
              <a:t>JWT Security</a:t>
            </a:r>
            <a:endParaRPr lang="en-US" sz="1700" dirty="0"/>
          </a:p>
        </p:txBody>
      </p:sp>
      <p:sp>
        <p:nvSpPr>
          <p:cNvPr id="34" name="Text 26"/>
          <p:cNvSpPr/>
          <p:nvPr/>
        </p:nvSpPr>
        <p:spPr>
          <a:xfrm>
            <a:off x="7564755" y="7006590"/>
            <a:ext cx="6197441" cy="521017"/>
          </a:xfrm>
          <a:prstGeom prst="rect">
            <a:avLst/>
          </a:prstGeom>
          <a:noFill/>
          <a:ln/>
        </p:spPr>
        <p:txBody>
          <a:bodyPr wrap="square" lIns="0" tIns="0" rIns="0" bIns="0" rtlCol="0" anchor="t"/>
          <a:lstStyle/>
          <a:p>
            <a:pPr marL="0" indent="0" algn="l">
              <a:lnSpc>
                <a:spcPts val="2050"/>
              </a:lnSpc>
              <a:buNone/>
            </a:pPr>
            <a:r>
              <a:rPr lang="en-US" sz="1350" dirty="0">
                <a:solidFill>
                  <a:srgbClr val="FFFFFF"/>
                </a:solidFill>
                <a:latin typeface="Manrope" pitchFamily="34" charset="0"/>
                <a:ea typeface="Manrope" pitchFamily="34" charset="-122"/>
                <a:cs typeface="Manrope" pitchFamily="34" charset="-120"/>
              </a:rPr>
              <a:t>Role-based dashboard access with secure token authentication for Operators and Managers.</a:t>
            </a:r>
            <a:endParaRPr lang="en-US" sz="1350" dirty="0"/>
          </a:p>
        </p:txBody>
      </p:sp>
      <p:pic>
        <p:nvPicPr>
          <p:cNvPr id="35" name="Picture 34"/>
          <p:cNvPicPr>
            <a:picLocks noChangeAspect="1"/>
          </p:cNvPicPr>
          <p:nvPr/>
        </p:nvPicPr>
        <p:blipFill>
          <a:blip r:embed="rId9"/>
          <a:stretch>
            <a:fillRect/>
          </a:stretch>
        </p:blipFill>
        <p:spPr>
          <a:xfrm>
            <a:off x="12191660" y="7792284"/>
            <a:ext cx="2438740" cy="371527"/>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1323737" y="512564"/>
            <a:ext cx="1645325" cy="262652"/>
          </a:xfrm>
          <a:prstGeom prst="roundRect">
            <a:avLst>
              <a:gd name="adj" fmla="val 6943"/>
            </a:avLst>
          </a:prstGeom>
          <a:solidFill>
            <a:srgbClr val="391F13"/>
          </a:solidFill>
          <a:ln/>
        </p:spPr>
        <p:txBody>
          <a:bodyPr/>
          <a:lstStyle/>
          <a:p>
            <a:endParaRPr lang="en-IN"/>
          </a:p>
        </p:txBody>
      </p:sp>
      <p:sp>
        <p:nvSpPr>
          <p:cNvPr id="3" name="Text 1"/>
          <p:cNvSpPr/>
          <p:nvPr/>
        </p:nvSpPr>
        <p:spPr>
          <a:xfrm>
            <a:off x="1414820" y="558046"/>
            <a:ext cx="1463159" cy="171688"/>
          </a:xfrm>
          <a:prstGeom prst="rect">
            <a:avLst/>
          </a:prstGeom>
          <a:noFill/>
          <a:ln/>
        </p:spPr>
        <p:txBody>
          <a:bodyPr wrap="none" lIns="0" tIns="0" rIns="0" bIns="0" rtlCol="0" anchor="t"/>
          <a:lstStyle/>
          <a:p>
            <a:pPr marL="0" indent="0" algn="l">
              <a:lnSpc>
                <a:spcPts val="1350"/>
              </a:lnSpc>
              <a:buNone/>
            </a:pPr>
            <a:r>
              <a:rPr lang="en-US" sz="950" dirty="0">
                <a:solidFill>
                  <a:srgbClr val="BDA189"/>
                </a:solidFill>
                <a:latin typeface="Manrope" pitchFamily="34" charset="0"/>
                <a:ea typeface="Manrope" pitchFamily="34" charset="-122"/>
                <a:cs typeface="Manrope" pitchFamily="34" charset="-120"/>
              </a:rPr>
              <a:t>CONCLUSION &amp; ROADMAP</a:t>
            </a:r>
            <a:endParaRPr lang="en-US" sz="950" dirty="0"/>
          </a:p>
        </p:txBody>
      </p:sp>
      <p:sp>
        <p:nvSpPr>
          <p:cNvPr id="4" name="Text 2"/>
          <p:cNvSpPr/>
          <p:nvPr/>
        </p:nvSpPr>
        <p:spPr>
          <a:xfrm>
            <a:off x="1323737" y="821650"/>
            <a:ext cx="4730948" cy="474821"/>
          </a:xfrm>
          <a:prstGeom prst="rect">
            <a:avLst/>
          </a:prstGeom>
          <a:noFill/>
          <a:ln/>
        </p:spPr>
        <p:txBody>
          <a:bodyPr wrap="none" lIns="0" tIns="0" rIns="0" bIns="0" rtlCol="0" anchor="t"/>
          <a:lstStyle/>
          <a:p>
            <a:pPr marL="0" indent="0" algn="l">
              <a:lnSpc>
                <a:spcPts val="3700"/>
              </a:lnSpc>
              <a:buNone/>
            </a:pPr>
            <a:r>
              <a:rPr lang="en-US" sz="2950" dirty="0">
                <a:solidFill>
                  <a:srgbClr val="F2D4BA"/>
                </a:solidFill>
                <a:latin typeface="Prata" pitchFamily="34" charset="0"/>
                <a:ea typeface="Prata" pitchFamily="34" charset="-122"/>
                <a:cs typeface="Prata" pitchFamily="34" charset="-120"/>
              </a:rPr>
              <a:t>Conclusion &amp; What's Next</a:t>
            </a:r>
            <a:endParaRPr lang="en-US" sz="2950" dirty="0"/>
          </a:p>
        </p:txBody>
      </p:sp>
      <p:sp>
        <p:nvSpPr>
          <p:cNvPr id="5" name="Shape 3"/>
          <p:cNvSpPr/>
          <p:nvPr/>
        </p:nvSpPr>
        <p:spPr>
          <a:xfrm>
            <a:off x="1272837" y="1603831"/>
            <a:ext cx="6024801" cy="6246019"/>
          </a:xfrm>
          <a:prstGeom prst="roundRect">
            <a:avLst>
              <a:gd name="adj" fmla="val 378"/>
            </a:avLst>
          </a:prstGeom>
          <a:solidFill>
            <a:srgbClr val="84482D"/>
          </a:solidFill>
          <a:ln/>
        </p:spPr>
        <p:txBody>
          <a:bodyPr/>
          <a:lstStyle/>
          <a:p>
            <a:endParaRPr lang="en-IN"/>
          </a:p>
        </p:txBody>
      </p:sp>
      <p:sp>
        <p:nvSpPr>
          <p:cNvPr id="6" name="Text 4"/>
          <p:cNvSpPr/>
          <p:nvPr/>
        </p:nvSpPr>
        <p:spPr>
          <a:xfrm>
            <a:off x="1366242" y="1587222"/>
            <a:ext cx="1899404" cy="237292"/>
          </a:xfrm>
          <a:prstGeom prst="rect">
            <a:avLst/>
          </a:prstGeom>
          <a:noFill/>
          <a:ln/>
        </p:spPr>
        <p:txBody>
          <a:bodyPr wrap="none" lIns="0" tIns="0" rIns="0" bIns="0" rtlCol="0" anchor="t"/>
          <a:lstStyle/>
          <a:p>
            <a:pPr marL="0" indent="0" algn="l">
              <a:lnSpc>
                <a:spcPts val="1850"/>
              </a:lnSpc>
              <a:buNone/>
            </a:pPr>
            <a:r>
              <a:rPr lang="en-US" sz="1450" dirty="0">
                <a:solidFill>
                  <a:srgbClr val="F2D4BA"/>
                </a:solidFill>
                <a:latin typeface="Prata" pitchFamily="34" charset="0"/>
                <a:ea typeface="Prata" pitchFamily="34" charset="-122"/>
                <a:cs typeface="Prata" pitchFamily="34" charset="-120"/>
              </a:rPr>
              <a:t>What We Delivered</a:t>
            </a:r>
            <a:endParaRPr lang="en-US" sz="1450" dirty="0"/>
          </a:p>
        </p:txBody>
      </p:sp>
      <p:sp>
        <p:nvSpPr>
          <p:cNvPr id="7" name="Text 5"/>
          <p:cNvSpPr/>
          <p:nvPr/>
        </p:nvSpPr>
        <p:spPr>
          <a:xfrm>
            <a:off x="1366242" y="1940838"/>
            <a:ext cx="5720953" cy="858203"/>
          </a:xfrm>
          <a:prstGeom prst="rect">
            <a:avLst/>
          </a:prstGeom>
          <a:noFill/>
          <a:ln/>
        </p:spPr>
        <p:txBody>
          <a:bodyPr wrap="square" lIns="0" tIns="0" rIns="0" bIns="0" rtlCol="0" anchor="t"/>
          <a:lstStyle/>
          <a:p>
            <a:pPr marL="0" indent="0" algn="l">
              <a:lnSpc>
                <a:spcPts val="1650"/>
              </a:lnSpc>
              <a:buNone/>
            </a:pPr>
            <a:r>
              <a:rPr lang="en-US" sz="1150" dirty="0">
                <a:solidFill>
                  <a:srgbClr val="FFFFFF"/>
                </a:solidFill>
                <a:latin typeface="Manrope" pitchFamily="34" charset="0"/>
                <a:ea typeface="Manrope" pitchFamily="34" charset="-122"/>
                <a:cs typeface="Manrope" pitchFamily="34" charset="-120"/>
              </a:rPr>
              <a:t>We successfully built an end-to-end IoT Smart Home system integrating hardware sensors, ESP32 firmware, a cloud backend, and a real-time web dashboard — demonstrating the practical power of IoT in energy conservation. The system is fully functional, secure, and ready for real-world deployment.</a:t>
            </a:r>
            <a:endParaRPr lang="en-US" sz="1150" dirty="0"/>
          </a:p>
        </p:txBody>
      </p:sp>
      <p:sp>
        <p:nvSpPr>
          <p:cNvPr id="8" name="Text 6"/>
          <p:cNvSpPr/>
          <p:nvPr/>
        </p:nvSpPr>
        <p:spPr>
          <a:xfrm>
            <a:off x="7508081" y="1587222"/>
            <a:ext cx="1899404" cy="244912"/>
          </a:xfrm>
          <a:prstGeom prst="rect">
            <a:avLst/>
          </a:prstGeom>
          <a:noFill/>
          <a:ln/>
        </p:spPr>
        <p:txBody>
          <a:bodyPr wrap="none" lIns="0" tIns="0" rIns="0" bIns="0" rtlCol="0" anchor="t"/>
          <a:lstStyle/>
          <a:p>
            <a:pPr marL="0" indent="0" algn="l">
              <a:lnSpc>
                <a:spcPts val="1850"/>
              </a:lnSpc>
              <a:buNone/>
            </a:pPr>
            <a:r>
              <a:rPr lang="en-US" sz="1450" dirty="0">
                <a:solidFill>
                  <a:srgbClr val="000000"/>
                </a:solidFill>
                <a:latin typeface="Prata" pitchFamily="34" charset="0"/>
                <a:ea typeface="Prata" pitchFamily="34" charset="-122"/>
                <a:cs typeface="Prata" pitchFamily="34" charset="-120"/>
              </a:rPr>
              <a:t>🔭</a:t>
            </a:r>
            <a:r>
              <a:rPr lang="en-US" sz="1450" dirty="0">
                <a:solidFill>
                  <a:srgbClr val="F2D4BA"/>
                </a:solidFill>
                <a:latin typeface="Prata" pitchFamily="34" charset="0"/>
                <a:ea typeface="Prata" pitchFamily="34" charset="-122"/>
                <a:cs typeface="Prata" pitchFamily="34" charset="-120"/>
              </a:rPr>
              <a:t> Future Scope</a:t>
            </a:r>
            <a:endParaRPr lang="en-US" sz="1450" dirty="0"/>
          </a:p>
        </p:txBody>
      </p:sp>
      <p:sp>
        <p:nvSpPr>
          <p:cNvPr id="9" name="Text 7"/>
          <p:cNvSpPr/>
          <p:nvPr/>
        </p:nvSpPr>
        <p:spPr>
          <a:xfrm>
            <a:off x="7508081" y="1962983"/>
            <a:ext cx="303848" cy="189905"/>
          </a:xfrm>
          <a:prstGeom prst="rect">
            <a:avLst/>
          </a:prstGeom>
          <a:noFill/>
          <a:ln/>
        </p:spPr>
        <p:txBody>
          <a:bodyPr wrap="none" lIns="0" tIns="0" rIns="0" bIns="0" rtlCol="0" anchor="t"/>
          <a:lstStyle/>
          <a:p>
            <a:pPr marL="0" indent="0" algn="l">
              <a:lnSpc>
                <a:spcPts val="1650"/>
              </a:lnSpc>
              <a:buNone/>
            </a:pPr>
            <a:r>
              <a:rPr lang="en-US" sz="1150" dirty="0">
                <a:solidFill>
                  <a:srgbClr val="BDA189"/>
                </a:solidFill>
                <a:latin typeface="Prata Light" pitchFamily="34" charset="0"/>
                <a:ea typeface="Prata Light" pitchFamily="34" charset="-122"/>
                <a:cs typeface="Prata Light" pitchFamily="34" charset="-120"/>
              </a:rPr>
              <a:t>01</a:t>
            </a:r>
            <a:endParaRPr lang="en-US" sz="1150" dirty="0"/>
          </a:p>
        </p:txBody>
      </p:sp>
      <p:sp>
        <p:nvSpPr>
          <p:cNvPr id="10" name="Shape 8"/>
          <p:cNvSpPr/>
          <p:nvPr/>
        </p:nvSpPr>
        <p:spPr>
          <a:xfrm>
            <a:off x="7508081" y="2205990"/>
            <a:ext cx="5805964" cy="15240"/>
          </a:xfrm>
          <a:prstGeom prst="rect">
            <a:avLst/>
          </a:prstGeom>
          <a:solidFill>
            <a:srgbClr val="84482D"/>
          </a:solidFill>
          <a:ln/>
        </p:spPr>
        <p:txBody>
          <a:bodyPr/>
          <a:lstStyle/>
          <a:p>
            <a:endParaRPr lang="en-IN"/>
          </a:p>
        </p:txBody>
      </p:sp>
      <p:sp>
        <p:nvSpPr>
          <p:cNvPr id="11" name="Text 9"/>
          <p:cNvSpPr/>
          <p:nvPr/>
        </p:nvSpPr>
        <p:spPr>
          <a:xfrm>
            <a:off x="7508081" y="2312432"/>
            <a:ext cx="1899404" cy="237292"/>
          </a:xfrm>
          <a:prstGeom prst="rect">
            <a:avLst/>
          </a:prstGeom>
          <a:noFill/>
          <a:ln/>
        </p:spPr>
        <p:txBody>
          <a:bodyPr wrap="none" lIns="0" tIns="0" rIns="0" bIns="0" rtlCol="0" anchor="t"/>
          <a:lstStyle/>
          <a:p>
            <a:pPr marL="0" indent="0" algn="l">
              <a:lnSpc>
                <a:spcPts val="1850"/>
              </a:lnSpc>
              <a:buNone/>
            </a:pPr>
            <a:r>
              <a:rPr lang="en-US" sz="1450" dirty="0">
                <a:solidFill>
                  <a:srgbClr val="BDA189"/>
                </a:solidFill>
                <a:latin typeface="Prata" pitchFamily="34" charset="0"/>
                <a:ea typeface="Prata" pitchFamily="34" charset="-122"/>
                <a:cs typeface="Prata" pitchFamily="34" charset="-120"/>
              </a:rPr>
              <a:t>Voice Control</a:t>
            </a:r>
            <a:endParaRPr lang="en-US" sz="1450" dirty="0"/>
          </a:p>
        </p:txBody>
      </p:sp>
      <p:sp>
        <p:nvSpPr>
          <p:cNvPr id="12" name="Text 10"/>
          <p:cNvSpPr/>
          <p:nvPr/>
        </p:nvSpPr>
        <p:spPr>
          <a:xfrm>
            <a:off x="7508081" y="2666048"/>
            <a:ext cx="5805964" cy="214551"/>
          </a:xfrm>
          <a:prstGeom prst="rect">
            <a:avLst/>
          </a:prstGeom>
          <a:noFill/>
          <a:ln/>
        </p:spPr>
        <p:txBody>
          <a:bodyPr wrap="none" lIns="0" tIns="0" rIns="0" bIns="0" rtlCol="0" anchor="t"/>
          <a:lstStyle/>
          <a:p>
            <a:pPr marL="0" indent="0" algn="l">
              <a:lnSpc>
                <a:spcPts val="1650"/>
              </a:lnSpc>
              <a:buNone/>
            </a:pPr>
            <a:r>
              <a:rPr lang="en-US" sz="1150" dirty="0">
                <a:solidFill>
                  <a:srgbClr val="BDA189"/>
                </a:solidFill>
                <a:latin typeface="Manrope" pitchFamily="34" charset="0"/>
                <a:ea typeface="Manrope" pitchFamily="34" charset="-122"/>
                <a:cs typeface="Manrope" pitchFamily="34" charset="-120"/>
              </a:rPr>
              <a:t>Alexa &amp; Google Home integration for hands-free operation</a:t>
            </a:r>
            <a:endParaRPr lang="en-US" sz="1150" dirty="0"/>
          </a:p>
        </p:txBody>
      </p:sp>
      <p:sp>
        <p:nvSpPr>
          <p:cNvPr id="13" name="Text 11"/>
          <p:cNvSpPr/>
          <p:nvPr/>
        </p:nvSpPr>
        <p:spPr>
          <a:xfrm>
            <a:off x="7508081" y="3110865"/>
            <a:ext cx="303848" cy="189905"/>
          </a:xfrm>
          <a:prstGeom prst="rect">
            <a:avLst/>
          </a:prstGeom>
          <a:noFill/>
          <a:ln/>
        </p:spPr>
        <p:txBody>
          <a:bodyPr wrap="none" lIns="0" tIns="0" rIns="0" bIns="0" rtlCol="0" anchor="t"/>
          <a:lstStyle/>
          <a:p>
            <a:pPr marL="0" indent="0" algn="l">
              <a:lnSpc>
                <a:spcPts val="1650"/>
              </a:lnSpc>
              <a:buNone/>
            </a:pPr>
            <a:r>
              <a:rPr lang="en-US" sz="1150" dirty="0">
                <a:solidFill>
                  <a:srgbClr val="BDA189"/>
                </a:solidFill>
                <a:latin typeface="Prata Light" pitchFamily="34" charset="0"/>
                <a:ea typeface="Prata Light" pitchFamily="34" charset="-122"/>
                <a:cs typeface="Prata Light" pitchFamily="34" charset="-120"/>
              </a:rPr>
              <a:t>02</a:t>
            </a:r>
            <a:endParaRPr lang="en-US" sz="1150" dirty="0"/>
          </a:p>
        </p:txBody>
      </p:sp>
      <p:sp>
        <p:nvSpPr>
          <p:cNvPr id="14" name="Shape 12"/>
          <p:cNvSpPr/>
          <p:nvPr/>
        </p:nvSpPr>
        <p:spPr>
          <a:xfrm>
            <a:off x="7508081" y="3353872"/>
            <a:ext cx="5805964" cy="15240"/>
          </a:xfrm>
          <a:prstGeom prst="rect">
            <a:avLst/>
          </a:prstGeom>
          <a:solidFill>
            <a:srgbClr val="84482D"/>
          </a:solidFill>
          <a:ln/>
        </p:spPr>
        <p:txBody>
          <a:bodyPr/>
          <a:lstStyle/>
          <a:p>
            <a:endParaRPr lang="en-IN"/>
          </a:p>
        </p:txBody>
      </p:sp>
      <p:sp>
        <p:nvSpPr>
          <p:cNvPr id="15" name="Text 13"/>
          <p:cNvSpPr/>
          <p:nvPr/>
        </p:nvSpPr>
        <p:spPr>
          <a:xfrm>
            <a:off x="7508081" y="3460313"/>
            <a:ext cx="1899404" cy="237292"/>
          </a:xfrm>
          <a:prstGeom prst="rect">
            <a:avLst/>
          </a:prstGeom>
          <a:noFill/>
          <a:ln/>
        </p:spPr>
        <p:txBody>
          <a:bodyPr wrap="none" lIns="0" tIns="0" rIns="0" bIns="0" rtlCol="0" anchor="t"/>
          <a:lstStyle/>
          <a:p>
            <a:pPr marL="0" indent="0" algn="l">
              <a:lnSpc>
                <a:spcPts val="1850"/>
              </a:lnSpc>
              <a:buNone/>
            </a:pPr>
            <a:r>
              <a:rPr lang="en-US" sz="1450" dirty="0">
                <a:solidFill>
                  <a:srgbClr val="BDA189"/>
                </a:solidFill>
                <a:latin typeface="Prata" pitchFamily="34" charset="0"/>
                <a:ea typeface="Prata" pitchFamily="34" charset="-122"/>
                <a:cs typeface="Prata" pitchFamily="34" charset="-120"/>
              </a:rPr>
              <a:t>Mobile App</a:t>
            </a:r>
            <a:endParaRPr lang="en-US" sz="1450" dirty="0"/>
          </a:p>
        </p:txBody>
      </p:sp>
      <p:sp>
        <p:nvSpPr>
          <p:cNvPr id="16" name="Text 14"/>
          <p:cNvSpPr/>
          <p:nvPr/>
        </p:nvSpPr>
        <p:spPr>
          <a:xfrm>
            <a:off x="7508081" y="3813929"/>
            <a:ext cx="5805964" cy="214551"/>
          </a:xfrm>
          <a:prstGeom prst="rect">
            <a:avLst/>
          </a:prstGeom>
          <a:noFill/>
          <a:ln/>
        </p:spPr>
        <p:txBody>
          <a:bodyPr wrap="none" lIns="0" tIns="0" rIns="0" bIns="0" rtlCol="0" anchor="t"/>
          <a:lstStyle/>
          <a:p>
            <a:pPr marL="0" indent="0" algn="l">
              <a:lnSpc>
                <a:spcPts val="1650"/>
              </a:lnSpc>
              <a:buNone/>
            </a:pPr>
            <a:r>
              <a:rPr lang="en-US" sz="1150" dirty="0">
                <a:solidFill>
                  <a:srgbClr val="BDA189"/>
                </a:solidFill>
                <a:latin typeface="Manrope" pitchFamily="34" charset="0"/>
                <a:ea typeface="Manrope" pitchFamily="34" charset="-122"/>
                <a:cs typeface="Manrope" pitchFamily="34" charset="-120"/>
              </a:rPr>
              <a:t>Native iOS/Android app for remote monitoring and control</a:t>
            </a:r>
            <a:endParaRPr lang="en-US" sz="1150" dirty="0"/>
          </a:p>
        </p:txBody>
      </p:sp>
      <p:sp>
        <p:nvSpPr>
          <p:cNvPr id="17" name="Text 15"/>
          <p:cNvSpPr/>
          <p:nvPr/>
        </p:nvSpPr>
        <p:spPr>
          <a:xfrm>
            <a:off x="7508081" y="4258747"/>
            <a:ext cx="303848" cy="189905"/>
          </a:xfrm>
          <a:prstGeom prst="rect">
            <a:avLst/>
          </a:prstGeom>
          <a:noFill/>
          <a:ln/>
        </p:spPr>
        <p:txBody>
          <a:bodyPr wrap="none" lIns="0" tIns="0" rIns="0" bIns="0" rtlCol="0" anchor="t"/>
          <a:lstStyle/>
          <a:p>
            <a:pPr marL="0" indent="0" algn="l">
              <a:lnSpc>
                <a:spcPts val="1650"/>
              </a:lnSpc>
              <a:buNone/>
            </a:pPr>
            <a:r>
              <a:rPr lang="en-US" sz="1150" dirty="0">
                <a:solidFill>
                  <a:srgbClr val="BDA189"/>
                </a:solidFill>
                <a:latin typeface="Prata Light" pitchFamily="34" charset="0"/>
                <a:ea typeface="Prata Light" pitchFamily="34" charset="-122"/>
                <a:cs typeface="Prata Light" pitchFamily="34" charset="-120"/>
              </a:rPr>
              <a:t>03</a:t>
            </a:r>
            <a:endParaRPr lang="en-US" sz="1150" dirty="0"/>
          </a:p>
        </p:txBody>
      </p:sp>
      <p:sp>
        <p:nvSpPr>
          <p:cNvPr id="18" name="Shape 16"/>
          <p:cNvSpPr/>
          <p:nvPr/>
        </p:nvSpPr>
        <p:spPr>
          <a:xfrm>
            <a:off x="7508081" y="4501753"/>
            <a:ext cx="5805964" cy="15240"/>
          </a:xfrm>
          <a:prstGeom prst="rect">
            <a:avLst/>
          </a:prstGeom>
          <a:solidFill>
            <a:srgbClr val="84482D"/>
          </a:solidFill>
          <a:ln/>
        </p:spPr>
        <p:txBody>
          <a:bodyPr/>
          <a:lstStyle/>
          <a:p>
            <a:endParaRPr lang="en-IN"/>
          </a:p>
        </p:txBody>
      </p:sp>
      <p:sp>
        <p:nvSpPr>
          <p:cNvPr id="19" name="Text 17"/>
          <p:cNvSpPr/>
          <p:nvPr/>
        </p:nvSpPr>
        <p:spPr>
          <a:xfrm>
            <a:off x="7508081" y="4608195"/>
            <a:ext cx="1899404" cy="237292"/>
          </a:xfrm>
          <a:prstGeom prst="rect">
            <a:avLst/>
          </a:prstGeom>
          <a:noFill/>
          <a:ln/>
        </p:spPr>
        <p:txBody>
          <a:bodyPr wrap="none" lIns="0" tIns="0" rIns="0" bIns="0" rtlCol="0" anchor="t"/>
          <a:lstStyle/>
          <a:p>
            <a:pPr marL="0" indent="0" algn="l">
              <a:lnSpc>
                <a:spcPts val="1850"/>
              </a:lnSpc>
              <a:buNone/>
            </a:pPr>
            <a:r>
              <a:rPr lang="en-US" sz="1450" dirty="0">
                <a:solidFill>
                  <a:srgbClr val="BDA189"/>
                </a:solidFill>
                <a:latin typeface="Prata" pitchFamily="34" charset="0"/>
                <a:ea typeface="Prata" pitchFamily="34" charset="-122"/>
                <a:cs typeface="Prata" pitchFamily="34" charset="-120"/>
              </a:rPr>
              <a:t>ML Optimization</a:t>
            </a:r>
            <a:endParaRPr lang="en-US" sz="1450" dirty="0"/>
          </a:p>
        </p:txBody>
      </p:sp>
      <p:sp>
        <p:nvSpPr>
          <p:cNvPr id="20" name="Text 18"/>
          <p:cNvSpPr/>
          <p:nvPr/>
        </p:nvSpPr>
        <p:spPr>
          <a:xfrm>
            <a:off x="7508081" y="4961811"/>
            <a:ext cx="5805964" cy="214551"/>
          </a:xfrm>
          <a:prstGeom prst="rect">
            <a:avLst/>
          </a:prstGeom>
          <a:noFill/>
          <a:ln/>
        </p:spPr>
        <p:txBody>
          <a:bodyPr wrap="none" lIns="0" tIns="0" rIns="0" bIns="0" rtlCol="0" anchor="t"/>
          <a:lstStyle/>
          <a:p>
            <a:pPr marL="0" indent="0" algn="l">
              <a:lnSpc>
                <a:spcPts val="1650"/>
              </a:lnSpc>
              <a:buNone/>
            </a:pPr>
            <a:r>
              <a:rPr lang="en-US" sz="1150" dirty="0">
                <a:solidFill>
                  <a:srgbClr val="BDA189"/>
                </a:solidFill>
                <a:latin typeface="Manrope" pitchFamily="34" charset="0"/>
                <a:ea typeface="Manrope" pitchFamily="34" charset="-122"/>
                <a:cs typeface="Manrope" pitchFamily="34" charset="-120"/>
              </a:rPr>
              <a:t>Machine learning for predictive energy usage and anomaly detection</a:t>
            </a:r>
            <a:endParaRPr lang="en-US" sz="1150" dirty="0"/>
          </a:p>
        </p:txBody>
      </p:sp>
      <p:sp>
        <p:nvSpPr>
          <p:cNvPr id="21" name="Text 19"/>
          <p:cNvSpPr/>
          <p:nvPr/>
        </p:nvSpPr>
        <p:spPr>
          <a:xfrm>
            <a:off x="7508081" y="5406628"/>
            <a:ext cx="303848" cy="189905"/>
          </a:xfrm>
          <a:prstGeom prst="rect">
            <a:avLst/>
          </a:prstGeom>
          <a:noFill/>
          <a:ln/>
        </p:spPr>
        <p:txBody>
          <a:bodyPr wrap="none" lIns="0" tIns="0" rIns="0" bIns="0" rtlCol="0" anchor="t"/>
          <a:lstStyle/>
          <a:p>
            <a:pPr marL="0" indent="0" algn="l">
              <a:lnSpc>
                <a:spcPts val="1650"/>
              </a:lnSpc>
              <a:buNone/>
            </a:pPr>
            <a:r>
              <a:rPr lang="en-US" sz="1150" dirty="0">
                <a:solidFill>
                  <a:srgbClr val="BDA189"/>
                </a:solidFill>
                <a:latin typeface="Prata Light" pitchFamily="34" charset="0"/>
                <a:ea typeface="Prata Light" pitchFamily="34" charset="-122"/>
                <a:cs typeface="Prata Light" pitchFamily="34" charset="-120"/>
              </a:rPr>
              <a:t>04</a:t>
            </a:r>
            <a:endParaRPr lang="en-US" sz="1150" dirty="0"/>
          </a:p>
        </p:txBody>
      </p:sp>
      <p:sp>
        <p:nvSpPr>
          <p:cNvPr id="22" name="Shape 20"/>
          <p:cNvSpPr/>
          <p:nvPr/>
        </p:nvSpPr>
        <p:spPr>
          <a:xfrm>
            <a:off x="7508081" y="5649635"/>
            <a:ext cx="5805964" cy="15240"/>
          </a:xfrm>
          <a:prstGeom prst="rect">
            <a:avLst/>
          </a:prstGeom>
          <a:solidFill>
            <a:srgbClr val="84482D"/>
          </a:solidFill>
          <a:ln/>
        </p:spPr>
        <p:txBody>
          <a:bodyPr/>
          <a:lstStyle/>
          <a:p>
            <a:endParaRPr lang="en-IN"/>
          </a:p>
        </p:txBody>
      </p:sp>
      <p:sp>
        <p:nvSpPr>
          <p:cNvPr id="23" name="Text 21"/>
          <p:cNvSpPr/>
          <p:nvPr/>
        </p:nvSpPr>
        <p:spPr>
          <a:xfrm>
            <a:off x="7508081" y="5756077"/>
            <a:ext cx="1899404" cy="237292"/>
          </a:xfrm>
          <a:prstGeom prst="rect">
            <a:avLst/>
          </a:prstGeom>
          <a:noFill/>
          <a:ln/>
        </p:spPr>
        <p:txBody>
          <a:bodyPr wrap="none" lIns="0" tIns="0" rIns="0" bIns="0" rtlCol="0" anchor="t"/>
          <a:lstStyle/>
          <a:p>
            <a:pPr marL="0" indent="0" algn="l">
              <a:lnSpc>
                <a:spcPts val="1850"/>
              </a:lnSpc>
              <a:buNone/>
            </a:pPr>
            <a:r>
              <a:rPr lang="en-US" sz="1450" dirty="0">
                <a:solidFill>
                  <a:srgbClr val="BDA189"/>
                </a:solidFill>
                <a:latin typeface="Prata" pitchFamily="34" charset="0"/>
                <a:ea typeface="Prata" pitchFamily="34" charset="-122"/>
                <a:cs typeface="Prata" pitchFamily="34" charset="-120"/>
              </a:rPr>
              <a:t>More Devices</a:t>
            </a:r>
            <a:endParaRPr lang="en-US" sz="1450" dirty="0"/>
          </a:p>
        </p:txBody>
      </p:sp>
      <p:sp>
        <p:nvSpPr>
          <p:cNvPr id="24" name="Text 22"/>
          <p:cNvSpPr/>
          <p:nvPr/>
        </p:nvSpPr>
        <p:spPr>
          <a:xfrm>
            <a:off x="7508081" y="6109692"/>
            <a:ext cx="5805964" cy="214551"/>
          </a:xfrm>
          <a:prstGeom prst="rect">
            <a:avLst/>
          </a:prstGeom>
          <a:noFill/>
          <a:ln/>
        </p:spPr>
        <p:txBody>
          <a:bodyPr wrap="none" lIns="0" tIns="0" rIns="0" bIns="0" rtlCol="0" anchor="t"/>
          <a:lstStyle/>
          <a:p>
            <a:pPr marL="0" indent="0" algn="l">
              <a:lnSpc>
                <a:spcPts val="1650"/>
              </a:lnSpc>
              <a:buNone/>
            </a:pPr>
            <a:r>
              <a:rPr lang="en-US" sz="1150" dirty="0">
                <a:solidFill>
                  <a:srgbClr val="BDA189"/>
                </a:solidFill>
                <a:latin typeface="Manrope" pitchFamily="34" charset="0"/>
                <a:ea typeface="Manrope" pitchFamily="34" charset="-122"/>
                <a:cs typeface="Manrope" pitchFamily="34" charset="-120"/>
              </a:rPr>
              <a:t>Support for AC units, water heaters, and smart plugs</a:t>
            </a:r>
            <a:endParaRPr lang="en-US" sz="1150" dirty="0"/>
          </a:p>
        </p:txBody>
      </p:sp>
      <p:sp>
        <p:nvSpPr>
          <p:cNvPr id="25" name="Text 23"/>
          <p:cNvSpPr/>
          <p:nvPr/>
        </p:nvSpPr>
        <p:spPr>
          <a:xfrm>
            <a:off x="7508081" y="6554510"/>
            <a:ext cx="303848" cy="189905"/>
          </a:xfrm>
          <a:prstGeom prst="rect">
            <a:avLst/>
          </a:prstGeom>
          <a:noFill/>
          <a:ln/>
        </p:spPr>
        <p:txBody>
          <a:bodyPr wrap="none" lIns="0" tIns="0" rIns="0" bIns="0" rtlCol="0" anchor="t"/>
          <a:lstStyle/>
          <a:p>
            <a:pPr marL="0" indent="0" algn="l">
              <a:lnSpc>
                <a:spcPts val="1650"/>
              </a:lnSpc>
              <a:buNone/>
            </a:pPr>
            <a:r>
              <a:rPr lang="en-US" sz="1150" dirty="0">
                <a:solidFill>
                  <a:srgbClr val="BDA189"/>
                </a:solidFill>
                <a:latin typeface="Prata Light" pitchFamily="34" charset="0"/>
                <a:ea typeface="Prata Light" pitchFamily="34" charset="-122"/>
                <a:cs typeface="Prata Light" pitchFamily="34" charset="-120"/>
              </a:rPr>
              <a:t>05</a:t>
            </a:r>
            <a:endParaRPr lang="en-US" sz="1150" dirty="0"/>
          </a:p>
        </p:txBody>
      </p:sp>
      <p:sp>
        <p:nvSpPr>
          <p:cNvPr id="26" name="Shape 24"/>
          <p:cNvSpPr/>
          <p:nvPr/>
        </p:nvSpPr>
        <p:spPr>
          <a:xfrm>
            <a:off x="7508081" y="6797516"/>
            <a:ext cx="5805964" cy="15240"/>
          </a:xfrm>
          <a:prstGeom prst="rect">
            <a:avLst/>
          </a:prstGeom>
          <a:solidFill>
            <a:srgbClr val="84482D"/>
          </a:solidFill>
          <a:ln/>
        </p:spPr>
        <p:txBody>
          <a:bodyPr/>
          <a:lstStyle/>
          <a:p>
            <a:endParaRPr lang="en-IN"/>
          </a:p>
        </p:txBody>
      </p:sp>
      <p:sp>
        <p:nvSpPr>
          <p:cNvPr id="27" name="Text 25"/>
          <p:cNvSpPr/>
          <p:nvPr/>
        </p:nvSpPr>
        <p:spPr>
          <a:xfrm>
            <a:off x="7508081" y="6903958"/>
            <a:ext cx="1899404" cy="237292"/>
          </a:xfrm>
          <a:prstGeom prst="rect">
            <a:avLst/>
          </a:prstGeom>
          <a:noFill/>
          <a:ln/>
        </p:spPr>
        <p:txBody>
          <a:bodyPr wrap="none" lIns="0" tIns="0" rIns="0" bIns="0" rtlCol="0" anchor="t"/>
          <a:lstStyle/>
          <a:p>
            <a:pPr marL="0" indent="0" algn="l">
              <a:lnSpc>
                <a:spcPts val="1850"/>
              </a:lnSpc>
              <a:buNone/>
            </a:pPr>
            <a:r>
              <a:rPr lang="en-US" sz="1450" dirty="0">
                <a:solidFill>
                  <a:srgbClr val="BDA189"/>
                </a:solidFill>
                <a:latin typeface="Prata" pitchFamily="34" charset="0"/>
                <a:ea typeface="Prata" pitchFamily="34" charset="-122"/>
                <a:cs typeface="Prata" pitchFamily="34" charset="-120"/>
              </a:rPr>
              <a:t>Solar Integration</a:t>
            </a:r>
            <a:endParaRPr lang="en-US" sz="1450" dirty="0"/>
          </a:p>
        </p:txBody>
      </p:sp>
      <p:sp>
        <p:nvSpPr>
          <p:cNvPr id="28" name="Text 26"/>
          <p:cNvSpPr/>
          <p:nvPr/>
        </p:nvSpPr>
        <p:spPr>
          <a:xfrm>
            <a:off x="7508081" y="7257574"/>
            <a:ext cx="5805964" cy="214551"/>
          </a:xfrm>
          <a:prstGeom prst="rect">
            <a:avLst/>
          </a:prstGeom>
          <a:noFill/>
          <a:ln/>
        </p:spPr>
        <p:txBody>
          <a:bodyPr wrap="none" lIns="0" tIns="0" rIns="0" bIns="0" rtlCol="0" anchor="t"/>
          <a:lstStyle/>
          <a:p>
            <a:pPr marL="0" indent="0" algn="l">
              <a:lnSpc>
                <a:spcPts val="1650"/>
              </a:lnSpc>
              <a:buNone/>
            </a:pPr>
            <a:r>
              <a:rPr lang="en-US" sz="1150" dirty="0">
                <a:solidFill>
                  <a:srgbClr val="BDA189"/>
                </a:solidFill>
                <a:latin typeface="Manrope" pitchFamily="34" charset="0"/>
                <a:ea typeface="Manrope" pitchFamily="34" charset="-122"/>
                <a:cs typeface="Manrope" pitchFamily="34" charset="-120"/>
              </a:rPr>
              <a:t>Monitor and optimize solar panel energy contribution</a:t>
            </a:r>
            <a:endParaRPr lang="en-US" sz="1150" dirty="0"/>
          </a:p>
        </p:txBody>
      </p:sp>
      <p:pic>
        <p:nvPicPr>
          <p:cNvPr id="29" name="Picture 28"/>
          <p:cNvPicPr>
            <a:picLocks noChangeAspect="1"/>
          </p:cNvPicPr>
          <p:nvPr/>
        </p:nvPicPr>
        <p:blipFill>
          <a:blip r:embed="rId3"/>
          <a:stretch>
            <a:fillRect/>
          </a:stretch>
        </p:blipFill>
        <p:spPr>
          <a:xfrm>
            <a:off x="12191660" y="7731179"/>
            <a:ext cx="2438740" cy="371527"/>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75</TotalTime>
  <Words>2137</Words>
  <Application>Microsoft Office PowerPoint</Application>
  <PresentationFormat>Custom</PresentationFormat>
  <Paragraphs>140</Paragraphs>
  <Slides>10</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Consolas</vt:lpstr>
      <vt:lpstr>Arial</vt:lpstr>
      <vt:lpstr>Prata Light</vt:lpstr>
      <vt:lpstr>Prata</vt:lpstr>
      <vt:lpstr>Manrope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Joshua Chacko</dc:creator>
  <cp:lastModifiedBy>23000887</cp:lastModifiedBy>
  <cp:revision>4</cp:revision>
  <dcterms:created xsi:type="dcterms:W3CDTF">2026-04-11T06:44:30Z</dcterms:created>
  <dcterms:modified xsi:type="dcterms:W3CDTF">2026-04-11T09:39:30Z</dcterms:modified>
</cp:coreProperties>
</file>